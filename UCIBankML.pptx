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Inter" panose="020B0604020202020204" charset="0"/>
      <p:bold r:id="rId24"/>
      <p:boldItalic r:id="rId25"/>
    </p:embeddedFont>
    <p:embeddedFont>
      <p:font typeface="Inter Medium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60c72628a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60c72628a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0c72628a_0_1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0c72628a_0_1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0c72628a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0c72628a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60c72628a_0_1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60c72628a_0_1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0c72628a_0_2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60c72628a_0_2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60c72628a_0_2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60c72628a_0_2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60c72628a_0_2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60c72628a_0_2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60c72628a_0_3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60c72628a_0_3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60c72628a_0_3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f60c72628a_0_3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f60c72628a_0_3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f60c72628a_0_3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f60c72628a_0_3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f60c72628a_0_3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60c72628a_0_3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f60c72628a_0_3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60c72628a_0_4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f60c72628a_0_4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f60c72628a_0_4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f60c72628a_0_4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f60c72628a_0_4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f60c72628a_0_4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60c72628a_0_5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3f60c72628a_0_5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f60c72628a_0_5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3f60c72628a_0_5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60c72628a_6_0)">
  <p:cSld name="Generated (g3f60c72628a_6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3" Type="http://schemas.openxmlformats.org/officeDocument/2006/relationships/image" Target="../media/image11.png"/><Relationship Id="rId7" Type="http://schemas.openxmlformats.org/officeDocument/2006/relationships/image" Target="../media/image70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50.png"/><Relationship Id="rId15" Type="http://schemas.openxmlformats.org/officeDocument/2006/relationships/image" Target="../media/image33.png"/><Relationship Id="rId10" Type="http://schemas.openxmlformats.org/officeDocument/2006/relationships/image" Target="../media/image73.png"/><Relationship Id="rId4" Type="http://schemas.openxmlformats.org/officeDocument/2006/relationships/image" Target="../media/image49.png"/><Relationship Id="rId9" Type="http://schemas.openxmlformats.org/officeDocument/2006/relationships/image" Target="../media/image72.png"/><Relationship Id="rId1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0"/>
              <a:ext cx="1905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3619500"/>
              <a:ext cx="17145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05500" y="2857500"/>
              <a:ext cx="32385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4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571500" y="428625"/>
            <a:ext cx="2047800" cy="247800"/>
            <a:chOff x="0" y="0"/>
            <a:chExt cx="2047800" cy="247800"/>
          </a:xfrm>
        </p:grpSpPr>
        <p:pic>
          <p:nvPicPr>
            <p:cNvPr id="63" name="Google Shape;63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20478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4"/>
            <p:cNvSpPr txBox="1"/>
            <p:nvPr/>
          </p:nvSpPr>
          <p:spPr>
            <a:xfrm>
              <a:off x="95250" y="0"/>
              <a:ext cx="18573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rPr>
                <a:t>FINANCIAL ANALYTICS</a:t>
              </a:r>
              <a:endParaRPr sz="9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571500" y="857250"/>
            <a:ext cx="8001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Direct Marketing Conversion Prediction Using Machine Learning</a:t>
            </a:r>
            <a:endParaRPr sz="28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00" b="0" i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An End-to-End Machine Learning Project using the UCI Bank Marketing Dataset</a:t>
            </a:r>
            <a:endParaRPr sz="1300" b="0" i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376488"/>
            <a:ext cx="80010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4"/>
          <p:cNvGrpSpPr/>
          <p:nvPr/>
        </p:nvGrpSpPr>
        <p:grpSpPr>
          <a:xfrm>
            <a:off x="514350" y="2609850"/>
            <a:ext cx="3733800" cy="2114550"/>
            <a:chOff x="-57150" y="-57150"/>
            <a:chExt cx="3733800" cy="2114550"/>
          </a:xfrm>
        </p:grpSpPr>
        <p:pic>
          <p:nvPicPr>
            <p:cNvPr id="68" name="Google Shape;68;p14" descr="A premium, clean corporate banking aesthetic background with soft silhouettes of a modern bank building, gentle financial growth charts, savings and investment graphic symbols. Styled in elegant forest green and gold accents on a clean light beige background. High-end, professional annual report look, no futuristic AI graphics or neon."/>
            <p:cNvPicPr preferRelativeResize="0"/>
            <p:nvPr/>
          </p:nvPicPr>
          <p:blipFill rotWithShape="1">
            <a:blip r:embed="rId8">
              <a:alphaModFix/>
            </a:blip>
            <a:srcRect t="874" b="884"/>
            <a:stretch/>
          </p:blipFill>
          <p:spPr>
            <a:xfrm>
              <a:off x="0" y="0"/>
              <a:ext cx="3619500" cy="20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-4762" y="-4762"/>
              <a:ext cx="3629100" cy="20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4"/>
            <p:cNvSpPr/>
            <p:nvPr/>
          </p:nvSpPr>
          <p:spPr>
            <a:xfrm>
              <a:off x="-57150" y="-57150"/>
              <a:ext cx="114300" cy="114300"/>
            </a:xfrm>
            <a:prstGeom prst="rect">
              <a:avLst/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3562350" y="1943100"/>
              <a:ext cx="114300" cy="114300"/>
            </a:xfrm>
            <a:prstGeom prst="rect">
              <a:avLst/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757738" y="2662238"/>
            <a:ext cx="3819600" cy="2009700"/>
            <a:chOff x="-4762" y="-4762"/>
            <a:chExt cx="3819600" cy="2009700"/>
          </a:xfrm>
        </p:grpSpPr>
        <p:pic>
          <p:nvPicPr>
            <p:cNvPr id="73" name="Google Shape;73;p1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-4762" y="-4762"/>
              <a:ext cx="3819600" cy="20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4"/>
            <p:cNvSpPr/>
            <p:nvPr/>
          </p:nvSpPr>
          <p:spPr>
            <a:xfrm>
              <a:off x="0" y="0"/>
              <a:ext cx="38100" cy="2000100"/>
            </a:xfrm>
            <a:prstGeom prst="roundRect">
              <a:avLst>
                <a:gd name="adj" fmla="val 5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14"/>
            <p:cNvGrpSpPr/>
            <p:nvPr/>
          </p:nvGrpSpPr>
          <p:grpSpPr>
            <a:xfrm>
              <a:off x="285750" y="538475"/>
              <a:ext cx="3238500" cy="1017825"/>
              <a:chOff x="0" y="347975"/>
              <a:chExt cx="3238500" cy="1017825"/>
            </a:xfrm>
          </p:grpSpPr>
          <p:sp>
            <p:nvSpPr>
              <p:cNvPr id="76" name="Google Shape;76;p14"/>
              <p:cNvSpPr txBox="1"/>
              <p:nvPr/>
            </p:nvSpPr>
            <p:spPr>
              <a:xfrm>
                <a:off x="0" y="347975"/>
                <a:ext cx="32385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Presented By</a:t>
                </a:r>
                <a:endParaRPr sz="9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Steve Emmanuel</a:t>
                </a:r>
                <a:endParaRPr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0" y="1003700"/>
                <a:ext cx="32385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Course</a:t>
                </a:r>
                <a:endParaRPr sz="9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Data Science &amp; Machine Learning</a:t>
                </a:r>
                <a:endParaRPr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0"/>
              <a:ext cx="1905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3619500"/>
              <a:ext cx="17145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05500" y="2857500"/>
              <a:ext cx="32385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15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571500" y="285750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571500" y="2857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Business Problem &amp; Project Objective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92" name="Google Shape;92;p15"/>
          <p:cNvCxnSpPr/>
          <p:nvPr/>
        </p:nvCxnSpPr>
        <p:spPr>
          <a:xfrm>
            <a:off x="571500" y="1047750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3" name="Google Shape;93;p15"/>
          <p:cNvGrpSpPr/>
          <p:nvPr/>
        </p:nvGrpSpPr>
        <p:grpSpPr>
          <a:xfrm>
            <a:off x="571500" y="1238250"/>
            <a:ext cx="3905400" cy="2857500"/>
            <a:chOff x="571500" y="1238250"/>
            <a:chExt cx="3905400" cy="2857500"/>
          </a:xfrm>
        </p:grpSpPr>
        <p:sp>
          <p:nvSpPr>
            <p:cNvPr id="94" name="Google Shape;94;p15"/>
            <p:cNvSpPr/>
            <p:nvPr/>
          </p:nvSpPr>
          <p:spPr>
            <a:xfrm>
              <a:off x="571500" y="123825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71500" y="1238250"/>
              <a:ext cx="3905400" cy="57300"/>
            </a:xfrm>
            <a:prstGeom prst="roundRect">
              <a:avLst>
                <a:gd name="adj" fmla="val 5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15" descr="A bank manager reviewing financial reports, customer marketing dashboards and digital customer profile data. Premium corporate banking aesthetic with emerald green and gold accents."/>
            <p:cNvPicPr preferRelativeResize="0"/>
            <p:nvPr/>
          </p:nvPicPr>
          <p:blipFill rotWithShape="1">
            <a:blip r:embed="rId6">
              <a:alphaModFix/>
            </a:blip>
            <a:srcRect l="-1282" t="15566" r="-1282" b="3232"/>
            <a:stretch/>
          </p:blipFill>
          <p:spPr>
            <a:xfrm>
              <a:off x="619200" y="1325300"/>
              <a:ext cx="3810000" cy="11988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97" name="Google Shape;97;p15"/>
            <p:cNvSpPr txBox="1"/>
            <p:nvPr/>
          </p:nvSpPr>
          <p:spPr>
            <a:xfrm>
              <a:off x="714375" y="2524125"/>
              <a:ext cx="3619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Business Problem</a:t>
              </a:r>
              <a:endParaRPr sz="13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Marketing campaigns target thousands of customers, making manual outreach expensive and time-consuming.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Low campaign efficiency due to high negative response rates from uninterested clients.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Challenge: Pre-identify customers with high term-deposit subscription probability before calling.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4667100" y="1238250"/>
            <a:ext cx="3905400" cy="2857500"/>
            <a:chOff x="4667250" y="1238250"/>
            <a:chExt cx="3905400" cy="2857500"/>
          </a:xfrm>
        </p:grpSpPr>
        <p:sp>
          <p:nvSpPr>
            <p:cNvPr id="99" name="Google Shape;99;p15"/>
            <p:cNvSpPr/>
            <p:nvPr/>
          </p:nvSpPr>
          <p:spPr>
            <a:xfrm>
              <a:off x="4667250" y="123825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667250" y="1238250"/>
              <a:ext cx="3905400" cy="573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1" name="Google Shape;101;p15" descr="A clean machine learning predictive model interface showing analytics graphs, subscriber prediction scorecards and data connectivity symbols. Styled in premium green and gold corporate theme."/>
            <p:cNvPicPr preferRelativeResize="0"/>
            <p:nvPr/>
          </p:nvPicPr>
          <p:blipFill rotWithShape="1">
            <a:blip r:embed="rId7">
              <a:alphaModFix/>
            </a:blip>
            <a:srcRect t="24930" r="-2564" b="6694"/>
            <a:stretch/>
          </p:blipFill>
          <p:spPr>
            <a:xfrm>
              <a:off x="4762500" y="1381125"/>
              <a:ext cx="3810000" cy="11907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02" name="Google Shape;102;p15"/>
            <p:cNvSpPr txBox="1"/>
            <p:nvPr/>
          </p:nvSpPr>
          <p:spPr>
            <a:xfrm>
              <a:off x="4810125" y="2524125"/>
              <a:ext cx="3619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Project Objective</a:t>
              </a:r>
              <a:endParaRPr sz="13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Analyze historical outreach data to identify underlying customer subscription patterns.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Build, optimize, and compare multiple Machine Learning classification models.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950"/>
                <a:buFont typeface="Arial"/>
                <a:buChar char="●"/>
              </a:pPr>
              <a:r>
                <a:rPr lang="en-GB" sz="9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Accurately predict customer subscription and recommend the best-performing model.</a:t>
              </a:r>
              <a:endParaRPr sz="9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571500" y="4286250"/>
            <a:ext cx="8001000" cy="571500"/>
            <a:chOff x="571500" y="4286250"/>
            <a:chExt cx="8001000" cy="571500"/>
          </a:xfrm>
        </p:grpSpPr>
        <p:sp>
          <p:nvSpPr>
            <p:cNvPr id="104" name="Google Shape;104;p15"/>
            <p:cNvSpPr/>
            <p:nvPr/>
          </p:nvSpPr>
          <p:spPr>
            <a:xfrm>
              <a:off x="571500" y="4286250"/>
              <a:ext cx="8001000" cy="5715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14375" y="4381500"/>
              <a:ext cx="57300" cy="3810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904875" y="4286250"/>
              <a:ext cx="74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BUSINESS GOAL</a:t>
              </a:r>
              <a:endParaRPr sz="90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"Improve marketing efficiency by targeting the right customers and reducing unnecessary marketing efforts."</a:t>
              </a:r>
              <a:endParaRPr sz="110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13" name="Google Shape;113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0"/>
              <a:ext cx="1905000" cy="1143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</p:pic>
        <p:pic>
          <p:nvPicPr>
            <p:cNvPr id="114" name="Google Shape;114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3619500"/>
              <a:ext cx="1714500" cy="1524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</p:pic>
        <p:pic>
          <p:nvPicPr>
            <p:cNvPr id="115" name="Google Shape;115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05500" y="2857500"/>
              <a:ext cx="3238500" cy="2286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</p:pic>
      </p:grpSp>
      <p:sp>
        <p:nvSpPr>
          <p:cNvPr id="116" name="Google Shape;116;p16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285750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2857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571500" y="1047750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2" name="Google Shape;122;p16"/>
          <p:cNvGrpSpPr/>
          <p:nvPr/>
        </p:nvGrpSpPr>
        <p:grpSpPr>
          <a:xfrm>
            <a:off x="571500" y="1238250"/>
            <a:ext cx="3905400" cy="2857500"/>
            <a:chOff x="571500" y="1238250"/>
            <a:chExt cx="3905400" cy="2857500"/>
          </a:xfrm>
        </p:grpSpPr>
        <p:sp>
          <p:nvSpPr>
            <p:cNvPr id="123" name="Google Shape;123;p16"/>
            <p:cNvSpPr/>
            <p:nvPr/>
          </p:nvSpPr>
          <p:spPr>
            <a:xfrm>
              <a:off x="571500" y="123825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571500" y="1238250"/>
              <a:ext cx="3905400" cy="57300"/>
            </a:xfrm>
            <a:prstGeom prst="roundRect">
              <a:avLst>
                <a:gd name="adj" fmla="val 5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714375" y="1381125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UCI Bank Marketing Dataset Sample</a:t>
              </a:r>
              <a:endParaRPr sz="13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26" name="Google Shape;126;p16"/>
            <p:cNvGrpSpPr/>
            <p:nvPr/>
          </p:nvGrpSpPr>
          <p:grpSpPr>
            <a:xfrm>
              <a:off x="685800" y="1714500"/>
              <a:ext cx="3676800" cy="1714650"/>
              <a:chOff x="0" y="0"/>
              <a:chExt cx="3676800" cy="1714650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0" y="0"/>
                <a:ext cx="3676800" cy="171600"/>
              </a:xfrm>
              <a:prstGeom prst="rect">
                <a:avLst/>
              </a:prstGeom>
              <a:solidFill>
                <a:srgbClr val="0F6B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0" y="171450"/>
                <a:ext cx="3676800" cy="171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0" y="342900"/>
                <a:ext cx="3676800" cy="171600"/>
              </a:xfrm>
              <a:prstGeom prst="rect">
                <a:avLst/>
              </a:prstGeom>
              <a:solidFill>
                <a:srgbClr val="F4F7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0" y="514350"/>
                <a:ext cx="3676800" cy="171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0" y="685800"/>
                <a:ext cx="3676800" cy="171600"/>
              </a:xfrm>
              <a:prstGeom prst="rect">
                <a:avLst/>
              </a:prstGeom>
              <a:solidFill>
                <a:srgbClr val="F4F7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0" y="857250"/>
                <a:ext cx="3676800" cy="171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0" y="1028700"/>
                <a:ext cx="3676800" cy="171600"/>
              </a:xfrm>
              <a:prstGeom prst="rect">
                <a:avLst/>
              </a:prstGeom>
              <a:solidFill>
                <a:srgbClr val="F4F7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0" y="1200150"/>
                <a:ext cx="3676800" cy="171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0" y="1371600"/>
                <a:ext cx="3676800" cy="171600"/>
              </a:xfrm>
              <a:prstGeom prst="rect">
                <a:avLst/>
              </a:prstGeom>
              <a:solidFill>
                <a:srgbClr val="F4F7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0" y="1543050"/>
                <a:ext cx="3676800" cy="171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0" y="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Age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361950" y="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Job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6"/>
              <p:cNvSpPr txBox="1"/>
              <p:nvPr/>
            </p:nvSpPr>
            <p:spPr>
              <a:xfrm>
                <a:off x="819150" y="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Marital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1181100" y="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Educ.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6"/>
              <p:cNvSpPr txBox="1"/>
              <p:nvPr/>
            </p:nvSpPr>
            <p:spPr>
              <a:xfrm>
                <a:off x="1609725" y="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Bal.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6"/>
              <p:cNvSpPr txBox="1"/>
              <p:nvPr/>
            </p:nvSpPr>
            <p:spPr>
              <a:xfrm>
                <a:off x="1971675" y="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Hous.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6"/>
              <p:cNvSpPr txBox="1"/>
              <p:nvPr/>
            </p:nvSpPr>
            <p:spPr>
              <a:xfrm>
                <a:off x="2257425" y="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Loan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6"/>
              <p:cNvSpPr txBox="1"/>
              <p:nvPr/>
            </p:nvSpPr>
            <p:spPr>
              <a:xfrm>
                <a:off x="2543175" y="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Contact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2924175" y="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Prev.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6"/>
              <p:cNvSpPr txBox="1"/>
              <p:nvPr/>
            </p:nvSpPr>
            <p:spPr>
              <a:xfrm>
                <a:off x="3352800" y="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Sub(y)</a:t>
                </a:r>
                <a:endParaRPr sz="7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0" y="1714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58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6"/>
              <p:cNvSpPr txBox="1"/>
              <p:nvPr/>
            </p:nvSpPr>
            <p:spPr>
              <a:xfrm>
                <a:off x="361950" y="17145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manag.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6"/>
              <p:cNvSpPr txBox="1"/>
              <p:nvPr/>
            </p:nvSpPr>
            <p:spPr>
              <a:xfrm>
                <a:off x="819150" y="1714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married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6"/>
              <p:cNvSpPr txBox="1"/>
              <p:nvPr/>
            </p:nvSpPr>
            <p:spPr>
              <a:xfrm>
                <a:off x="1181100" y="1714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tertiary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6"/>
              <p:cNvSpPr txBox="1"/>
              <p:nvPr/>
            </p:nvSpPr>
            <p:spPr>
              <a:xfrm>
                <a:off x="1609725" y="1714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2,143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6"/>
              <p:cNvSpPr txBox="1"/>
              <p:nvPr/>
            </p:nvSpPr>
            <p:spPr>
              <a:xfrm>
                <a:off x="1971675" y="1714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6"/>
              <p:cNvSpPr txBox="1"/>
              <p:nvPr/>
            </p:nvSpPr>
            <p:spPr>
              <a:xfrm>
                <a:off x="2257425" y="1714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6"/>
              <p:cNvSpPr txBox="1"/>
              <p:nvPr/>
            </p:nvSpPr>
            <p:spPr>
              <a:xfrm>
                <a:off x="2543175" y="17145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6"/>
              <p:cNvSpPr txBox="1"/>
              <p:nvPr/>
            </p:nvSpPr>
            <p:spPr>
              <a:xfrm>
                <a:off x="2924175" y="1714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6"/>
              <p:cNvSpPr txBox="1"/>
              <p:nvPr/>
            </p:nvSpPr>
            <p:spPr>
              <a:xfrm>
                <a:off x="3352800" y="17145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6"/>
              <p:cNvSpPr txBox="1"/>
              <p:nvPr/>
            </p:nvSpPr>
            <p:spPr>
              <a:xfrm>
                <a:off x="0" y="3429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44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6"/>
              <p:cNvSpPr txBox="1"/>
              <p:nvPr/>
            </p:nvSpPr>
            <p:spPr>
              <a:xfrm>
                <a:off x="361950" y="34290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techn.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6"/>
              <p:cNvSpPr txBox="1"/>
              <p:nvPr/>
            </p:nvSpPr>
            <p:spPr>
              <a:xfrm>
                <a:off x="819150" y="3429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single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6"/>
              <p:cNvSpPr txBox="1"/>
              <p:nvPr/>
            </p:nvSpPr>
            <p:spPr>
              <a:xfrm>
                <a:off x="1181100" y="3429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second.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6"/>
              <p:cNvSpPr txBox="1"/>
              <p:nvPr/>
            </p:nvSpPr>
            <p:spPr>
              <a:xfrm>
                <a:off x="1609725" y="3429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29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6"/>
              <p:cNvSpPr txBox="1"/>
              <p:nvPr/>
            </p:nvSpPr>
            <p:spPr>
              <a:xfrm>
                <a:off x="1971675" y="3429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6"/>
              <p:cNvSpPr txBox="1"/>
              <p:nvPr/>
            </p:nvSpPr>
            <p:spPr>
              <a:xfrm>
                <a:off x="2257425" y="3429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6"/>
              <p:cNvSpPr txBox="1"/>
              <p:nvPr/>
            </p:nvSpPr>
            <p:spPr>
              <a:xfrm>
                <a:off x="2543175" y="34290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6"/>
              <p:cNvSpPr txBox="1"/>
              <p:nvPr/>
            </p:nvSpPr>
            <p:spPr>
              <a:xfrm>
                <a:off x="2924175" y="3429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6"/>
              <p:cNvSpPr txBox="1"/>
              <p:nvPr/>
            </p:nvSpPr>
            <p:spPr>
              <a:xfrm>
                <a:off x="3352800" y="34290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6"/>
              <p:cNvSpPr txBox="1"/>
              <p:nvPr/>
            </p:nvSpPr>
            <p:spPr>
              <a:xfrm>
                <a:off x="0" y="5143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33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6"/>
              <p:cNvSpPr txBox="1"/>
              <p:nvPr/>
            </p:nvSpPr>
            <p:spPr>
              <a:xfrm>
                <a:off x="361950" y="51435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entrepr.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6"/>
              <p:cNvSpPr txBox="1"/>
              <p:nvPr/>
            </p:nvSpPr>
            <p:spPr>
              <a:xfrm>
                <a:off x="819150" y="5143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married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6"/>
              <p:cNvSpPr txBox="1"/>
              <p:nvPr/>
            </p:nvSpPr>
            <p:spPr>
              <a:xfrm>
                <a:off x="1181100" y="5143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second.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6"/>
              <p:cNvSpPr txBox="1"/>
              <p:nvPr/>
            </p:nvSpPr>
            <p:spPr>
              <a:xfrm>
                <a:off x="1609725" y="5143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6"/>
              <p:cNvSpPr txBox="1"/>
              <p:nvPr/>
            </p:nvSpPr>
            <p:spPr>
              <a:xfrm>
                <a:off x="1971675" y="5143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6"/>
              <p:cNvSpPr txBox="1"/>
              <p:nvPr/>
            </p:nvSpPr>
            <p:spPr>
              <a:xfrm>
                <a:off x="2257425" y="5143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6"/>
              <p:cNvSpPr txBox="1"/>
              <p:nvPr/>
            </p:nvSpPr>
            <p:spPr>
              <a:xfrm>
                <a:off x="2543175" y="51435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6"/>
              <p:cNvSpPr txBox="1"/>
              <p:nvPr/>
            </p:nvSpPr>
            <p:spPr>
              <a:xfrm>
                <a:off x="2924175" y="5143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6"/>
              <p:cNvSpPr txBox="1"/>
              <p:nvPr/>
            </p:nvSpPr>
            <p:spPr>
              <a:xfrm>
                <a:off x="3352800" y="51435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6"/>
              <p:cNvSpPr txBox="1"/>
              <p:nvPr/>
            </p:nvSpPr>
            <p:spPr>
              <a:xfrm>
                <a:off x="0" y="6858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47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6"/>
              <p:cNvSpPr txBox="1"/>
              <p:nvPr/>
            </p:nvSpPr>
            <p:spPr>
              <a:xfrm>
                <a:off x="361950" y="68580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blue-col.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6"/>
              <p:cNvSpPr txBox="1"/>
              <p:nvPr/>
            </p:nvSpPr>
            <p:spPr>
              <a:xfrm>
                <a:off x="819150" y="6858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married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6"/>
              <p:cNvSpPr txBox="1"/>
              <p:nvPr/>
            </p:nvSpPr>
            <p:spPr>
              <a:xfrm>
                <a:off x="1181100" y="6858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6"/>
              <p:cNvSpPr txBox="1"/>
              <p:nvPr/>
            </p:nvSpPr>
            <p:spPr>
              <a:xfrm>
                <a:off x="1609725" y="6858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1,506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6"/>
              <p:cNvSpPr txBox="1"/>
              <p:nvPr/>
            </p:nvSpPr>
            <p:spPr>
              <a:xfrm>
                <a:off x="1971675" y="6858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6"/>
              <p:cNvSpPr txBox="1"/>
              <p:nvPr/>
            </p:nvSpPr>
            <p:spPr>
              <a:xfrm>
                <a:off x="2257425" y="6858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6"/>
              <p:cNvSpPr txBox="1"/>
              <p:nvPr/>
            </p:nvSpPr>
            <p:spPr>
              <a:xfrm>
                <a:off x="2543175" y="68580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6"/>
              <p:cNvSpPr txBox="1"/>
              <p:nvPr/>
            </p:nvSpPr>
            <p:spPr>
              <a:xfrm>
                <a:off x="2924175" y="6858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6"/>
              <p:cNvSpPr txBox="1"/>
              <p:nvPr/>
            </p:nvSpPr>
            <p:spPr>
              <a:xfrm>
                <a:off x="3352800" y="68580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6"/>
              <p:cNvSpPr txBox="1"/>
              <p:nvPr/>
            </p:nvSpPr>
            <p:spPr>
              <a:xfrm>
                <a:off x="0" y="8572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35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6"/>
              <p:cNvSpPr txBox="1"/>
              <p:nvPr/>
            </p:nvSpPr>
            <p:spPr>
              <a:xfrm>
                <a:off x="361950" y="85725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manag.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6"/>
              <p:cNvSpPr txBox="1"/>
              <p:nvPr/>
            </p:nvSpPr>
            <p:spPr>
              <a:xfrm>
                <a:off x="819150" y="8572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married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6"/>
              <p:cNvSpPr txBox="1"/>
              <p:nvPr/>
            </p:nvSpPr>
            <p:spPr>
              <a:xfrm>
                <a:off x="1181100" y="8572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tertiary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6"/>
              <p:cNvSpPr txBox="1"/>
              <p:nvPr/>
            </p:nvSpPr>
            <p:spPr>
              <a:xfrm>
                <a:off x="1609725" y="8572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747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6"/>
              <p:cNvSpPr txBox="1"/>
              <p:nvPr/>
            </p:nvSpPr>
            <p:spPr>
              <a:xfrm>
                <a:off x="1971675" y="8572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2257425" y="8572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6"/>
              <p:cNvSpPr txBox="1"/>
              <p:nvPr/>
            </p:nvSpPr>
            <p:spPr>
              <a:xfrm>
                <a:off x="2543175" y="85725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cellular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6"/>
              <p:cNvSpPr txBox="1"/>
              <p:nvPr/>
            </p:nvSpPr>
            <p:spPr>
              <a:xfrm>
                <a:off x="2924175" y="8572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failure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6"/>
              <p:cNvSpPr txBox="1"/>
              <p:nvPr/>
            </p:nvSpPr>
            <p:spPr>
              <a:xfrm>
                <a:off x="3352800" y="85725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6"/>
              <p:cNvSpPr txBox="1"/>
              <p:nvPr/>
            </p:nvSpPr>
            <p:spPr>
              <a:xfrm>
                <a:off x="0" y="10287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28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6"/>
              <p:cNvSpPr txBox="1"/>
              <p:nvPr/>
            </p:nvSpPr>
            <p:spPr>
              <a:xfrm>
                <a:off x="361950" y="102870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blue-col.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6"/>
              <p:cNvSpPr txBox="1"/>
              <p:nvPr/>
            </p:nvSpPr>
            <p:spPr>
              <a:xfrm>
                <a:off x="819150" y="10287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single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6"/>
              <p:cNvSpPr txBox="1"/>
              <p:nvPr/>
            </p:nvSpPr>
            <p:spPr>
              <a:xfrm>
                <a:off x="1181100" y="10287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second.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6"/>
              <p:cNvSpPr txBox="1"/>
              <p:nvPr/>
            </p:nvSpPr>
            <p:spPr>
              <a:xfrm>
                <a:off x="1609725" y="10287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437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6"/>
              <p:cNvSpPr txBox="1"/>
              <p:nvPr/>
            </p:nvSpPr>
            <p:spPr>
              <a:xfrm>
                <a:off x="1971675" y="10287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6"/>
              <p:cNvSpPr txBox="1"/>
              <p:nvPr/>
            </p:nvSpPr>
            <p:spPr>
              <a:xfrm>
                <a:off x="2257425" y="10287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6"/>
              <p:cNvSpPr txBox="1"/>
              <p:nvPr/>
            </p:nvSpPr>
            <p:spPr>
              <a:xfrm>
                <a:off x="2543175" y="102870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cellular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6"/>
              <p:cNvSpPr txBox="1"/>
              <p:nvPr/>
            </p:nvSpPr>
            <p:spPr>
              <a:xfrm>
                <a:off x="2924175" y="10287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other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6"/>
              <p:cNvSpPr txBox="1"/>
              <p:nvPr/>
            </p:nvSpPr>
            <p:spPr>
              <a:xfrm>
                <a:off x="3352800" y="102870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6"/>
              <p:cNvSpPr txBox="1"/>
              <p:nvPr/>
            </p:nvSpPr>
            <p:spPr>
              <a:xfrm>
                <a:off x="0" y="12001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42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6"/>
              <p:cNvSpPr txBox="1"/>
              <p:nvPr/>
            </p:nvSpPr>
            <p:spPr>
              <a:xfrm>
                <a:off x="361950" y="120015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admin.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6"/>
              <p:cNvSpPr txBox="1"/>
              <p:nvPr/>
            </p:nvSpPr>
            <p:spPr>
              <a:xfrm>
                <a:off x="819150" y="12001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divorced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6"/>
              <p:cNvSpPr txBox="1"/>
              <p:nvPr/>
            </p:nvSpPr>
            <p:spPr>
              <a:xfrm>
                <a:off x="1181100" y="12001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tertiary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6"/>
              <p:cNvSpPr txBox="1"/>
              <p:nvPr/>
            </p:nvSpPr>
            <p:spPr>
              <a:xfrm>
                <a:off x="1609725" y="12001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84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6"/>
              <p:cNvSpPr txBox="1"/>
              <p:nvPr/>
            </p:nvSpPr>
            <p:spPr>
              <a:xfrm>
                <a:off x="1971675" y="12001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6"/>
              <p:cNvSpPr txBox="1"/>
              <p:nvPr/>
            </p:nvSpPr>
            <p:spPr>
              <a:xfrm>
                <a:off x="2257425" y="12001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 txBox="1"/>
              <p:nvPr/>
            </p:nvSpPr>
            <p:spPr>
              <a:xfrm>
                <a:off x="2543175" y="120015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6"/>
              <p:cNvSpPr txBox="1"/>
              <p:nvPr/>
            </p:nvSpPr>
            <p:spPr>
              <a:xfrm>
                <a:off x="2924175" y="12001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6"/>
              <p:cNvSpPr txBox="1"/>
              <p:nvPr/>
            </p:nvSpPr>
            <p:spPr>
              <a:xfrm>
                <a:off x="3352800" y="120015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 txBox="1"/>
              <p:nvPr/>
            </p:nvSpPr>
            <p:spPr>
              <a:xfrm>
                <a:off x="0" y="13716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51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6"/>
              <p:cNvSpPr txBox="1"/>
              <p:nvPr/>
            </p:nvSpPr>
            <p:spPr>
              <a:xfrm>
                <a:off x="361950" y="137160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retired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6"/>
              <p:cNvSpPr txBox="1"/>
              <p:nvPr/>
            </p:nvSpPr>
            <p:spPr>
              <a:xfrm>
                <a:off x="819150" y="13716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married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 txBox="1"/>
              <p:nvPr/>
            </p:nvSpPr>
            <p:spPr>
              <a:xfrm>
                <a:off x="1181100" y="13716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primary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6"/>
              <p:cNvSpPr txBox="1"/>
              <p:nvPr/>
            </p:nvSpPr>
            <p:spPr>
              <a:xfrm>
                <a:off x="1609725" y="137160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229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6"/>
              <p:cNvSpPr txBox="1"/>
              <p:nvPr/>
            </p:nvSpPr>
            <p:spPr>
              <a:xfrm>
                <a:off x="1971675" y="13716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6"/>
              <p:cNvSpPr txBox="1"/>
              <p:nvPr/>
            </p:nvSpPr>
            <p:spPr>
              <a:xfrm>
                <a:off x="2257425" y="137160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6"/>
              <p:cNvSpPr txBox="1"/>
              <p:nvPr/>
            </p:nvSpPr>
            <p:spPr>
              <a:xfrm>
                <a:off x="2543175" y="137160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telephone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6"/>
              <p:cNvSpPr txBox="1"/>
              <p:nvPr/>
            </p:nvSpPr>
            <p:spPr>
              <a:xfrm>
                <a:off x="2924175" y="137160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success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6"/>
              <p:cNvSpPr txBox="1"/>
              <p:nvPr/>
            </p:nvSpPr>
            <p:spPr>
              <a:xfrm>
                <a:off x="3352800" y="137160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yes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6"/>
              <p:cNvSpPr txBox="1"/>
              <p:nvPr/>
            </p:nvSpPr>
            <p:spPr>
              <a:xfrm>
                <a:off x="0" y="15430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39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6"/>
              <p:cNvSpPr txBox="1"/>
              <p:nvPr/>
            </p:nvSpPr>
            <p:spPr>
              <a:xfrm>
                <a:off x="361950" y="1543050"/>
                <a:ext cx="457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self-emp.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6"/>
              <p:cNvSpPr txBox="1"/>
              <p:nvPr/>
            </p:nvSpPr>
            <p:spPr>
              <a:xfrm>
                <a:off x="819150" y="15430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single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6"/>
              <p:cNvSpPr txBox="1"/>
              <p:nvPr/>
            </p:nvSpPr>
            <p:spPr>
              <a:xfrm>
                <a:off x="1181100" y="15430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tertiary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6"/>
              <p:cNvSpPr txBox="1"/>
              <p:nvPr/>
            </p:nvSpPr>
            <p:spPr>
              <a:xfrm>
                <a:off x="1609725" y="1543050"/>
                <a:ext cx="3621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3,204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6"/>
              <p:cNvSpPr txBox="1"/>
              <p:nvPr/>
            </p:nvSpPr>
            <p:spPr>
              <a:xfrm>
                <a:off x="1971675" y="15430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6"/>
              <p:cNvSpPr txBox="1"/>
              <p:nvPr/>
            </p:nvSpPr>
            <p:spPr>
              <a:xfrm>
                <a:off x="2257425" y="1543050"/>
                <a:ext cx="285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6"/>
              <p:cNvSpPr txBox="1"/>
              <p:nvPr/>
            </p:nvSpPr>
            <p:spPr>
              <a:xfrm>
                <a:off x="2543175" y="1543050"/>
                <a:ext cx="381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cellular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6"/>
              <p:cNvSpPr txBox="1"/>
              <p:nvPr/>
            </p:nvSpPr>
            <p:spPr>
              <a:xfrm>
                <a:off x="2924175" y="1543050"/>
                <a:ext cx="428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unknown</a:t>
                </a:r>
                <a:endParaRPr sz="648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6"/>
              <p:cNvSpPr txBox="1"/>
              <p:nvPr/>
            </p:nvSpPr>
            <p:spPr>
              <a:xfrm>
                <a:off x="3352800" y="1543050"/>
                <a:ext cx="324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7" name="Google Shape;237;p16"/>
          <p:cNvGrpSpPr/>
          <p:nvPr/>
        </p:nvGrpSpPr>
        <p:grpSpPr>
          <a:xfrm>
            <a:off x="4667250" y="1238250"/>
            <a:ext cx="3905400" cy="2857500"/>
            <a:chOff x="4667250" y="1238250"/>
            <a:chExt cx="3905400" cy="2857500"/>
          </a:xfrm>
        </p:grpSpPr>
        <p:sp>
          <p:nvSpPr>
            <p:cNvPr id="238" name="Google Shape;238;p16"/>
            <p:cNvSpPr/>
            <p:nvPr/>
          </p:nvSpPr>
          <p:spPr>
            <a:xfrm>
              <a:off x="4667250" y="123825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4667250" y="1238250"/>
              <a:ext cx="3905400" cy="573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6"/>
            <p:cNvSpPr txBox="1"/>
            <p:nvPr/>
          </p:nvSpPr>
          <p:spPr>
            <a:xfrm>
              <a:off x="4810125" y="1381125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Dataset Metadata &amp; Characteristics</a:t>
              </a:r>
              <a:endParaRPr sz="13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41" name="Google Shape;241;p16"/>
            <p:cNvGrpSpPr/>
            <p:nvPr/>
          </p:nvGrpSpPr>
          <p:grpSpPr>
            <a:xfrm>
              <a:off x="4857750" y="1714500"/>
              <a:ext cx="3476775" cy="285900"/>
              <a:chOff x="0" y="0"/>
              <a:chExt cx="3476775" cy="285900"/>
            </a:xfrm>
          </p:grpSpPr>
          <p:sp>
            <p:nvSpPr>
              <p:cNvPr id="242" name="Google Shape;242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 txBox="1"/>
              <p:nvPr/>
            </p:nvSpPr>
            <p:spPr>
              <a:xfrm>
                <a:off x="333375" y="0"/>
                <a:ext cx="31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79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Dataset / Source: </a:t>
                </a:r>
                <a:r>
                  <a:rPr lang="en-GB" sz="879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UCI Bank Marketing Dataset (UCI ML Repository)</a:t>
                </a:r>
                <a:endParaRPr sz="875"/>
              </a:p>
            </p:txBody>
          </p:sp>
        </p:grpSp>
        <p:grpSp>
          <p:nvGrpSpPr>
            <p:cNvPr id="245" name="Google Shape;245;p16"/>
            <p:cNvGrpSpPr/>
            <p:nvPr/>
          </p:nvGrpSpPr>
          <p:grpSpPr>
            <a:xfrm>
              <a:off x="4857750" y="2095500"/>
              <a:ext cx="3476775" cy="285900"/>
              <a:chOff x="0" y="0"/>
              <a:chExt cx="3476775" cy="285900"/>
            </a:xfrm>
          </p:grpSpPr>
          <p:sp>
            <p:nvSpPr>
              <p:cNvPr id="246" name="Google Shape;246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6"/>
              <p:cNvSpPr txBox="1"/>
              <p:nvPr/>
            </p:nvSpPr>
            <p:spPr>
              <a:xfrm>
                <a:off x="333375" y="0"/>
                <a:ext cx="31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79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Total Records: </a:t>
                </a:r>
                <a:r>
                  <a:rPr lang="en-GB" sz="879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41,188 rows of direct marketing phone call data</a:t>
                </a:r>
                <a:endParaRPr sz="875"/>
              </a:p>
            </p:txBody>
          </p:sp>
        </p:grpSp>
        <p:grpSp>
          <p:nvGrpSpPr>
            <p:cNvPr id="249" name="Google Shape;249;p16"/>
            <p:cNvGrpSpPr/>
            <p:nvPr/>
          </p:nvGrpSpPr>
          <p:grpSpPr>
            <a:xfrm>
              <a:off x="4857750" y="2476500"/>
              <a:ext cx="3476775" cy="285900"/>
              <a:chOff x="0" y="0"/>
              <a:chExt cx="3476775" cy="285900"/>
            </a:xfrm>
          </p:grpSpPr>
          <p:sp>
            <p:nvSpPr>
              <p:cNvPr id="250" name="Google Shape;250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6"/>
              <p:cNvSpPr txBox="1"/>
              <p:nvPr/>
            </p:nvSpPr>
            <p:spPr>
              <a:xfrm>
                <a:off x="333375" y="0"/>
                <a:ext cx="31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79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Total Features: </a:t>
                </a:r>
                <a:r>
                  <a:rPr lang="en-GB" sz="879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20 input attributes (demographic &amp; financial)</a:t>
                </a:r>
                <a:endParaRPr sz="875"/>
              </a:p>
            </p:txBody>
          </p:sp>
        </p:grpSp>
        <p:grpSp>
          <p:nvGrpSpPr>
            <p:cNvPr id="253" name="Google Shape;253;p16"/>
            <p:cNvGrpSpPr/>
            <p:nvPr/>
          </p:nvGrpSpPr>
          <p:grpSpPr>
            <a:xfrm>
              <a:off x="4857750" y="2857500"/>
              <a:ext cx="3476775" cy="285900"/>
              <a:chOff x="0" y="0"/>
              <a:chExt cx="3476775" cy="285900"/>
            </a:xfrm>
          </p:grpSpPr>
          <p:sp>
            <p:nvSpPr>
              <p:cNvPr id="254" name="Google Shape;254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6"/>
              <p:cNvSpPr txBox="1"/>
              <p:nvPr/>
            </p:nvSpPr>
            <p:spPr>
              <a:xfrm>
                <a:off x="333375" y="0"/>
                <a:ext cx="31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79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Target Variable: </a:t>
                </a:r>
                <a:r>
                  <a:rPr lang="en-GB" sz="879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"y" (Subscribed to a term deposit: Yes / No)</a:t>
                </a:r>
                <a:endParaRPr sz="875"/>
              </a:p>
            </p:txBody>
          </p:sp>
        </p:grpSp>
        <p:grpSp>
          <p:nvGrpSpPr>
            <p:cNvPr id="257" name="Google Shape;257;p16"/>
            <p:cNvGrpSpPr/>
            <p:nvPr/>
          </p:nvGrpSpPr>
          <p:grpSpPr>
            <a:xfrm>
              <a:off x="4857750" y="3238500"/>
              <a:ext cx="3476775" cy="285900"/>
              <a:chOff x="0" y="0"/>
              <a:chExt cx="3476775" cy="285900"/>
            </a:xfrm>
          </p:grpSpPr>
          <p:sp>
            <p:nvSpPr>
              <p:cNvPr id="258" name="Google Shape;258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6"/>
              <p:cNvSpPr txBox="1"/>
              <p:nvPr/>
            </p:nvSpPr>
            <p:spPr>
              <a:xfrm>
                <a:off x="333375" y="0"/>
                <a:ext cx="31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79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Problem Type: </a:t>
                </a:r>
                <a:r>
                  <a:rPr lang="en-GB" sz="879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Binary Classification (Predictive Modeling)</a:t>
                </a:r>
                <a:endParaRPr sz="875"/>
              </a:p>
            </p:txBody>
          </p:sp>
        </p:grpSp>
      </p:grpSp>
      <p:grpSp>
        <p:nvGrpSpPr>
          <p:cNvPr id="261" name="Google Shape;261;p16"/>
          <p:cNvGrpSpPr/>
          <p:nvPr/>
        </p:nvGrpSpPr>
        <p:grpSpPr>
          <a:xfrm>
            <a:off x="571500" y="4286250"/>
            <a:ext cx="8001000" cy="571500"/>
            <a:chOff x="571500" y="4286250"/>
            <a:chExt cx="8001000" cy="571500"/>
          </a:xfrm>
        </p:grpSpPr>
        <p:sp>
          <p:nvSpPr>
            <p:cNvPr id="262" name="Google Shape;262;p16"/>
            <p:cNvSpPr/>
            <p:nvPr/>
          </p:nvSpPr>
          <p:spPr>
            <a:xfrm>
              <a:off x="571500" y="4286250"/>
              <a:ext cx="8001000" cy="5715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714375" y="4381500"/>
              <a:ext cx="57300" cy="3810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904875" y="4286250"/>
              <a:ext cx="74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KEY FEATURES USED</a:t>
              </a:r>
              <a:endParaRPr sz="90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Customer Demographics • Financial Information • Previous Marketing Campaign Details • Contact Information • Economic Indicators</a:t>
              </a:r>
              <a:endParaRPr sz="110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23813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1" name="Google Shape;271;p17"/>
            <p:cNvSpPr/>
            <p:nvPr/>
          </p:nvSpPr>
          <p:spPr>
            <a:xfrm>
              <a:off x="7239000" y="0"/>
              <a:ext cx="190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0" y="3619500"/>
              <a:ext cx="17145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5905500" y="2857500"/>
              <a:ext cx="3238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17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7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74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571500" y="495300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Project Workflow &amp; Machine Learning Pipeline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79" name="Google Shape;279;p17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0" name="Google Shape;280;p17"/>
          <p:cNvGrpSpPr/>
          <p:nvPr/>
        </p:nvGrpSpPr>
        <p:grpSpPr>
          <a:xfrm>
            <a:off x="566738" y="1090613"/>
            <a:ext cx="8010450" cy="581100"/>
            <a:chOff x="566738" y="1090613"/>
            <a:chExt cx="8010450" cy="581100"/>
          </a:xfrm>
        </p:grpSpPr>
        <p:pic>
          <p:nvPicPr>
            <p:cNvPr id="281" name="Google Shape;28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738" y="1090613"/>
              <a:ext cx="12003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17"/>
            <p:cNvSpPr txBox="1"/>
            <p:nvPr/>
          </p:nvSpPr>
          <p:spPr>
            <a:xfrm>
              <a:off x="904875" y="1152525"/>
              <a:ext cx="80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1. Business Domain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Targeting conversion probability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4" name="Google Shape;284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52600" y="1333500"/>
              <a:ext cx="2001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95488" y="1090613"/>
              <a:ext cx="12003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17"/>
            <p:cNvSpPr txBox="1"/>
            <p:nvPr/>
          </p:nvSpPr>
          <p:spPr>
            <a:xfrm>
              <a:off x="2333625" y="1152525"/>
              <a:ext cx="80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2. Data Collection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UCI Bank Marketing Dataset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81350" y="1333500"/>
              <a:ext cx="2001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24238" y="1090613"/>
              <a:ext cx="12003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17"/>
            <p:cNvSpPr txBox="1"/>
            <p:nvPr/>
          </p:nvSpPr>
          <p:spPr>
            <a:xfrm>
              <a:off x="3762375" y="1152525"/>
              <a:ext cx="80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3. Exploratory EDA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Analyze correlations &amp; client profiles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10100" y="1333500"/>
              <a:ext cx="2001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2988" y="1090613"/>
              <a:ext cx="12003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7"/>
            <p:cNvSpPr txBox="1"/>
            <p:nvPr/>
          </p:nvSpPr>
          <p:spPr>
            <a:xfrm>
              <a:off x="5191125" y="1152525"/>
              <a:ext cx="80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4. Data Cleaning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Impute missing, handle outliers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6" name="Google Shape;296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38850" y="1333500"/>
              <a:ext cx="2001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81738" y="1090613"/>
              <a:ext cx="12003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17"/>
            <p:cNvSpPr txBox="1"/>
            <p:nvPr/>
          </p:nvSpPr>
          <p:spPr>
            <a:xfrm>
              <a:off x="6619875" y="1152525"/>
              <a:ext cx="80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5. Feature Eng.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Derive balance metrics &amp; campaign ratios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" name="Google Shape;300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467600" y="1333500"/>
              <a:ext cx="2001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10488" y="1090613"/>
              <a:ext cx="8667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17"/>
            <p:cNvSpPr txBox="1"/>
            <p:nvPr/>
          </p:nvSpPr>
          <p:spPr>
            <a:xfrm>
              <a:off x="7981950" y="1152525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6. Data Prep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Split &amp; Scale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4" name="Google Shape;304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" y="1657350"/>
            <a:ext cx="7038900" cy="39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17"/>
          <p:cNvGrpSpPr/>
          <p:nvPr/>
        </p:nvGrpSpPr>
        <p:grpSpPr>
          <a:xfrm>
            <a:off x="561975" y="2085975"/>
            <a:ext cx="8015288" cy="1400100"/>
            <a:chOff x="561975" y="2085975"/>
            <a:chExt cx="8015288" cy="1400100"/>
          </a:xfrm>
        </p:grpSpPr>
        <p:pic>
          <p:nvPicPr>
            <p:cNvPr id="306" name="Google Shape;306;p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61975" y="2085975"/>
              <a:ext cx="3019500" cy="14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7"/>
            <p:cNvSpPr txBox="1"/>
            <p:nvPr/>
          </p:nvSpPr>
          <p:spPr>
            <a:xfrm>
              <a:off x="952500" y="21907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7. Predictive Modeling</a:t>
              </a:r>
              <a:endParaRPr sz="74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pic>
          <p:nvPicPr>
            <p:cNvPr id="309" name="Google Shape;309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14375" y="2476500"/>
              <a:ext cx="9525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17"/>
            <p:cNvSpPr txBox="1"/>
            <p:nvPr/>
          </p:nvSpPr>
          <p:spPr>
            <a:xfrm>
              <a:off x="781050" y="2505075"/>
              <a:ext cx="8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Logistic Reg.</a:t>
              </a:r>
              <a:endParaRPr sz="6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Baseline linear model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1" name="Google Shape;311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733550" y="2476500"/>
              <a:ext cx="9525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17"/>
            <p:cNvSpPr txBox="1"/>
            <p:nvPr/>
          </p:nvSpPr>
          <p:spPr>
            <a:xfrm>
              <a:off x="1800225" y="2505075"/>
              <a:ext cx="8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Decision Tree</a:t>
              </a:r>
              <a:endParaRPr sz="6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Interpretability focus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14375" y="2952750"/>
              <a:ext cx="9525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17"/>
            <p:cNvSpPr txBox="1"/>
            <p:nvPr/>
          </p:nvSpPr>
          <p:spPr>
            <a:xfrm>
              <a:off x="781050" y="2981325"/>
              <a:ext cx="8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Random Forest</a:t>
              </a:r>
              <a:endParaRPr sz="6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Ensemble bagging</a:t>
              </a:r>
              <a:endParaRPr sz="648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5" name="Google Shape;315;p1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728788" y="2947988"/>
              <a:ext cx="96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17"/>
            <p:cNvSpPr txBox="1"/>
            <p:nvPr/>
          </p:nvSpPr>
          <p:spPr>
            <a:xfrm>
              <a:off x="1800225" y="2981325"/>
              <a:ext cx="819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rPr>
                <a:t>XGBoost</a:t>
              </a:r>
              <a:endParaRPr sz="6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8" b="0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rPr>
                <a:t>Gradient boosting</a:t>
              </a:r>
              <a:endParaRPr sz="648" b="0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7" name="Google Shape;317;p1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333625" y="2990850"/>
              <a:ext cx="3048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17"/>
            <p:cNvSpPr txBox="1"/>
            <p:nvPr/>
          </p:nvSpPr>
          <p:spPr>
            <a:xfrm>
              <a:off x="2333625" y="2990850"/>
              <a:ext cx="304800" cy="9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BEST MODEL</a:t>
              </a:r>
              <a:endParaRPr sz="3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562350" y="2738438"/>
              <a:ext cx="2478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3852863" y="2090738"/>
              <a:ext cx="1485900" cy="139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17"/>
            <p:cNvSpPr txBox="1"/>
            <p:nvPr/>
          </p:nvSpPr>
          <p:spPr>
            <a:xfrm>
              <a:off x="4238625" y="2190750"/>
              <a:ext cx="1000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8. Evaluation Metrics</a:t>
              </a:r>
              <a:endParaRPr sz="74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23" name="Google Shape;323;p17"/>
            <p:cNvGrpSpPr/>
            <p:nvPr/>
          </p:nvGrpSpPr>
          <p:grpSpPr>
            <a:xfrm>
              <a:off x="4000500" y="2524125"/>
              <a:ext cx="1190700" cy="857325"/>
              <a:chOff x="4000500" y="2524125"/>
              <a:chExt cx="1190700" cy="857325"/>
            </a:xfrm>
          </p:grpSpPr>
          <p:cxnSp>
            <p:nvCxnSpPr>
              <p:cNvPr id="324" name="Google Shape;324;p17"/>
              <p:cNvCxnSpPr/>
              <p:nvPr/>
            </p:nvCxnSpPr>
            <p:spPr>
              <a:xfrm>
                <a:off x="4000500" y="2524125"/>
                <a:ext cx="11907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5" name="Google Shape;325;p17"/>
              <p:cNvSpPr txBox="1"/>
              <p:nvPr/>
            </p:nvSpPr>
            <p:spPr>
              <a:xfrm>
                <a:off x="4000500" y="2571750"/>
                <a:ext cx="11907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Accuracy / AUC-ROC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Precision &amp; Recall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F1-Score optimize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Confusion Matrix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6" name="Google Shape;326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324475" y="2738438"/>
              <a:ext cx="2478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610225" y="2085975"/>
              <a:ext cx="1400100" cy="14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7"/>
            <p:cNvSpPr txBox="1"/>
            <p:nvPr/>
          </p:nvSpPr>
          <p:spPr>
            <a:xfrm>
              <a:off x="5857875" y="2200275"/>
              <a:ext cx="90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 dirty="0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rPr>
                <a:t>9. Model Selection</a:t>
              </a:r>
              <a:endParaRPr sz="740" b="1" dirty="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30" name="Google Shape;330;p17"/>
            <p:cNvGrpSpPr/>
            <p:nvPr/>
          </p:nvGrpSpPr>
          <p:grpSpPr>
            <a:xfrm>
              <a:off x="5762625" y="2524125"/>
              <a:ext cx="1095300" cy="857325"/>
              <a:chOff x="5762625" y="2524125"/>
              <a:chExt cx="1095300" cy="857325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5762625" y="2524125"/>
                <a:ext cx="10953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32" name="Google Shape;332;p17"/>
              <p:cNvSpPr txBox="1"/>
              <p:nvPr/>
            </p:nvSpPr>
            <p:spPr>
              <a:xfrm>
                <a:off x="5762625" y="2571750"/>
                <a:ext cx="1095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XGBoost Selected</a:t>
                </a:r>
                <a:endParaRPr sz="648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Highest AUC: 0.93</a:t>
                </a:r>
                <a:endParaRPr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648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Robust generalization</a:t>
                </a:r>
                <a:endParaRPr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lang="en-GB" sz="648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Minimal overfitting</a:t>
                </a:r>
                <a:endParaRPr sz="648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3" name="Google Shape;333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991350" y="2738438"/>
              <a:ext cx="2478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281863" y="2090738"/>
              <a:ext cx="1295400" cy="139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7"/>
            <p:cNvSpPr txBox="1"/>
            <p:nvPr/>
          </p:nvSpPr>
          <p:spPr>
            <a:xfrm>
              <a:off x="7646082" y="2181374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10. Insights</a:t>
              </a:r>
              <a:endParaRPr sz="74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37" name="Google Shape;337;p17"/>
            <p:cNvGrpSpPr/>
            <p:nvPr/>
          </p:nvGrpSpPr>
          <p:grpSpPr>
            <a:xfrm>
              <a:off x="7429500" y="2524125"/>
              <a:ext cx="1000200" cy="857325"/>
              <a:chOff x="7429500" y="2524125"/>
              <a:chExt cx="1000200" cy="857325"/>
            </a:xfrm>
          </p:grpSpPr>
          <p:cxnSp>
            <p:nvCxnSpPr>
              <p:cNvPr id="338" name="Google Shape;338;p17"/>
              <p:cNvCxnSpPr/>
              <p:nvPr/>
            </p:nvCxnSpPr>
            <p:spPr>
              <a:xfrm>
                <a:off x="7429500" y="2524125"/>
                <a:ext cx="10002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39" name="Google Shape;339;p17"/>
              <p:cNvSpPr txBox="1"/>
              <p:nvPr/>
            </p:nvSpPr>
            <p:spPr>
              <a:xfrm>
                <a:off x="7429500" y="2571750"/>
                <a:ext cx="10002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Key drivers: Duration &amp; Age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Targeted outreach plan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648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• Maximized ROI</a:t>
                </a:r>
                <a:endParaRPr sz="648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0" name="Google Shape;340;p17"/>
          <p:cNvGrpSpPr/>
          <p:nvPr/>
        </p:nvGrpSpPr>
        <p:grpSpPr>
          <a:xfrm>
            <a:off x="571500" y="4238625"/>
            <a:ext cx="8001000" cy="571500"/>
            <a:chOff x="571500" y="4238625"/>
            <a:chExt cx="8001000" cy="571500"/>
          </a:xfrm>
        </p:grpSpPr>
        <p:pic>
          <p:nvPicPr>
            <p:cNvPr id="341" name="Google Shape;341;p17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71500" y="423862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7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714375" y="4333875"/>
              <a:ext cx="573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7"/>
            <p:cNvSpPr txBox="1"/>
            <p:nvPr/>
          </p:nvSpPr>
          <p:spPr>
            <a:xfrm>
              <a:off x="904875" y="4238625"/>
              <a:ext cx="747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BUSINESS IMPACT &amp; OBJECTIVE</a:t>
              </a:r>
              <a:endParaRPr sz="74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"Leveraging model predictions helps financial organizations reduce direct call overheads while boosting customer acquisition."</a:t>
              </a:r>
              <a:endParaRPr sz="100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8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74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571500" y="495300"/>
            <a:ext cx="5524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Exploratory Data Analysis (EDA)</a:t>
            </a:r>
            <a:endParaRPr/>
          </a:p>
        </p:txBody>
      </p:sp>
      <p:cxnSp>
        <p:nvCxnSpPr>
          <p:cNvPr id="354" name="Google Shape;354;p18"/>
          <p:cNvCxnSpPr/>
          <p:nvPr/>
        </p:nvCxnSpPr>
        <p:spPr>
          <a:xfrm>
            <a:off x="571500" y="904875"/>
            <a:ext cx="55245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5" name="Google Shape;355;p18"/>
          <p:cNvGrpSpPr/>
          <p:nvPr/>
        </p:nvGrpSpPr>
        <p:grpSpPr>
          <a:xfrm>
            <a:off x="571500" y="1047750"/>
            <a:ext cx="2667000" cy="1714500"/>
            <a:chOff x="571500" y="1047750"/>
            <a:chExt cx="2667000" cy="1714500"/>
          </a:xfrm>
        </p:grpSpPr>
        <p:sp>
          <p:nvSpPr>
            <p:cNvPr id="356" name="Google Shape;356;p18"/>
            <p:cNvSpPr/>
            <p:nvPr/>
          </p:nvSpPr>
          <p:spPr>
            <a:xfrm>
              <a:off x="571500" y="1047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8"/>
            <p:cNvSpPr txBox="1"/>
            <p:nvPr/>
          </p:nvSpPr>
          <p:spPr>
            <a:xfrm>
              <a:off x="714375" y="11620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Target Variable Distribution</a:t>
              </a:r>
              <a:endParaRPr sz="11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1095375" y="1476375"/>
              <a:ext cx="333300" cy="857400"/>
            </a:xfrm>
            <a:prstGeom prst="roundRect">
              <a:avLst>
                <a:gd name="adj" fmla="val 8571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2000250" y="2219325"/>
              <a:ext cx="333300" cy="114300"/>
            </a:xfrm>
            <a:prstGeom prst="roundRect">
              <a:avLst>
                <a:gd name="adj" fmla="val 25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0" name="Google Shape;360;p18"/>
            <p:cNvCxnSpPr/>
            <p:nvPr/>
          </p:nvCxnSpPr>
          <p:spPr>
            <a:xfrm>
              <a:off x="809625" y="2333625"/>
              <a:ext cx="16191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1" name="Google Shape;361;p18"/>
            <p:cNvSpPr txBox="1"/>
            <p:nvPr/>
          </p:nvSpPr>
          <p:spPr>
            <a:xfrm>
              <a:off x="857250" y="2400300"/>
              <a:ext cx="809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No (88.5%)</a:t>
              </a:r>
              <a:endParaRPr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8"/>
            <p:cNvSpPr txBox="1"/>
            <p:nvPr/>
          </p:nvSpPr>
          <p:spPr>
            <a:xfrm>
              <a:off x="1762125" y="2400300"/>
              <a:ext cx="809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Yes (11.5%)</a:t>
              </a:r>
              <a:endParaRPr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3429000" y="1047750"/>
            <a:ext cx="2667000" cy="1714500"/>
            <a:chOff x="3429000" y="1047750"/>
            <a:chExt cx="2667000" cy="1714500"/>
          </a:xfrm>
        </p:grpSpPr>
        <p:sp>
          <p:nvSpPr>
            <p:cNvPr id="364" name="Google Shape;364;p18"/>
            <p:cNvSpPr/>
            <p:nvPr/>
          </p:nvSpPr>
          <p:spPr>
            <a:xfrm>
              <a:off x="3429000" y="1047750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 txBox="1"/>
            <p:nvPr/>
          </p:nvSpPr>
          <p:spPr>
            <a:xfrm>
              <a:off x="3571875" y="116205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Age Distribution Histogram</a:t>
              </a:r>
              <a:endParaRPr sz="11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3714750" y="2143125"/>
              <a:ext cx="190500" cy="190500"/>
            </a:xfrm>
            <a:prstGeom prst="roundRect">
              <a:avLst>
                <a:gd name="adj" fmla="val 1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3952875" y="1905000"/>
              <a:ext cx="190500" cy="428700"/>
            </a:xfrm>
            <a:prstGeom prst="roundRect">
              <a:avLst>
                <a:gd name="adj" fmla="val 1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4191000" y="1476375"/>
              <a:ext cx="190500" cy="857400"/>
            </a:xfrm>
            <a:prstGeom prst="roundRect">
              <a:avLst>
                <a:gd name="adj" fmla="val 1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4429125" y="1571625"/>
              <a:ext cx="190500" cy="762000"/>
            </a:xfrm>
            <a:prstGeom prst="roundRect">
              <a:avLst>
                <a:gd name="adj" fmla="val 1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4667250" y="1762125"/>
              <a:ext cx="190500" cy="571500"/>
            </a:xfrm>
            <a:prstGeom prst="roundRect">
              <a:avLst>
                <a:gd name="adj" fmla="val 1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4905375" y="1952625"/>
              <a:ext cx="190500" cy="381000"/>
            </a:xfrm>
            <a:prstGeom prst="roundRect">
              <a:avLst>
                <a:gd name="adj" fmla="val 1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5143500" y="2095500"/>
              <a:ext cx="190500" cy="238200"/>
            </a:xfrm>
            <a:prstGeom prst="roundRect">
              <a:avLst>
                <a:gd name="adj" fmla="val 1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5381625" y="2238375"/>
              <a:ext cx="190500" cy="95400"/>
            </a:xfrm>
            <a:prstGeom prst="roundRect">
              <a:avLst>
                <a:gd name="adj" fmla="val 2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5619750" y="2286000"/>
              <a:ext cx="190500" cy="47700"/>
            </a:xfrm>
            <a:prstGeom prst="roundRect">
              <a:avLst>
                <a:gd name="adj" fmla="val 4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5" name="Google Shape;375;p18"/>
            <p:cNvCxnSpPr/>
            <p:nvPr/>
          </p:nvCxnSpPr>
          <p:spPr>
            <a:xfrm>
              <a:off x="3619500" y="2333625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6" name="Google Shape;376;p18"/>
            <p:cNvSpPr txBox="1"/>
            <p:nvPr/>
          </p:nvSpPr>
          <p:spPr>
            <a:xfrm>
              <a:off x="3619500" y="24003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8"/>
            <p:cNvSpPr txBox="1"/>
            <p:nvPr/>
          </p:nvSpPr>
          <p:spPr>
            <a:xfrm>
              <a:off x="4572000" y="24003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8"/>
            <p:cNvSpPr txBox="1"/>
            <p:nvPr/>
          </p:nvSpPr>
          <p:spPr>
            <a:xfrm>
              <a:off x="5524500" y="24003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80</a:t>
              </a:r>
              <a:endParaRPr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18"/>
          <p:cNvGrpSpPr/>
          <p:nvPr/>
        </p:nvGrpSpPr>
        <p:grpSpPr>
          <a:xfrm>
            <a:off x="571500" y="3000375"/>
            <a:ext cx="2667000" cy="1714500"/>
            <a:chOff x="571500" y="3000375"/>
            <a:chExt cx="2667000" cy="1714500"/>
          </a:xfrm>
        </p:grpSpPr>
        <p:sp>
          <p:nvSpPr>
            <p:cNvPr id="380" name="Google Shape;380;p18"/>
            <p:cNvSpPr/>
            <p:nvPr/>
          </p:nvSpPr>
          <p:spPr>
            <a:xfrm>
              <a:off x="571500" y="3000375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 txBox="1"/>
            <p:nvPr/>
          </p:nvSpPr>
          <p:spPr>
            <a:xfrm>
              <a:off x="714375" y="3114675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Top Occupations (Jobs)</a:t>
              </a:r>
              <a:endParaRPr sz="11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82" name="Google Shape;382;p18"/>
            <p:cNvSpPr txBox="1"/>
            <p:nvPr/>
          </p:nvSpPr>
          <p:spPr>
            <a:xfrm>
              <a:off x="666750" y="3409950"/>
              <a:ext cx="6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Blue-Collar</a:t>
              </a:r>
              <a:endParaRPr sz="8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381125" y="3429000"/>
              <a:ext cx="1143000" cy="1143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 txBox="1"/>
            <p:nvPr/>
          </p:nvSpPr>
          <p:spPr>
            <a:xfrm>
              <a:off x="666750" y="3648075"/>
              <a:ext cx="6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  <a:endParaRPr sz="74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381125" y="3667125"/>
              <a:ext cx="1000200" cy="1143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 txBox="1"/>
            <p:nvPr/>
          </p:nvSpPr>
          <p:spPr>
            <a:xfrm>
              <a:off x="666750" y="3886200"/>
              <a:ext cx="6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Technician</a:t>
              </a:r>
              <a:endParaRPr sz="8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381125" y="3905250"/>
              <a:ext cx="857400" cy="1143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 txBox="1"/>
            <p:nvPr/>
          </p:nvSpPr>
          <p:spPr>
            <a:xfrm>
              <a:off x="666750" y="4124325"/>
              <a:ext cx="6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Admin</a:t>
              </a:r>
              <a:endParaRPr sz="8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381125" y="4143375"/>
              <a:ext cx="714300" cy="1143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 txBox="1"/>
            <p:nvPr/>
          </p:nvSpPr>
          <p:spPr>
            <a:xfrm>
              <a:off x="666750" y="4362450"/>
              <a:ext cx="6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Services</a:t>
              </a:r>
              <a:endParaRPr sz="8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381125" y="4381500"/>
              <a:ext cx="476400" cy="114300"/>
            </a:xfrm>
            <a:prstGeom prst="roundRect">
              <a:avLst>
                <a:gd name="adj" fmla="val 16666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18"/>
          <p:cNvGrpSpPr/>
          <p:nvPr/>
        </p:nvGrpSpPr>
        <p:grpSpPr>
          <a:xfrm>
            <a:off x="3429000" y="3000375"/>
            <a:ext cx="2667000" cy="1714500"/>
            <a:chOff x="3429000" y="3000375"/>
            <a:chExt cx="2667000" cy="1714500"/>
          </a:xfrm>
        </p:grpSpPr>
        <p:sp>
          <p:nvSpPr>
            <p:cNvPr id="393" name="Google Shape;393;p18"/>
            <p:cNvSpPr/>
            <p:nvPr/>
          </p:nvSpPr>
          <p:spPr>
            <a:xfrm>
              <a:off x="3429000" y="3000375"/>
              <a:ext cx="266700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 txBox="1"/>
            <p:nvPr/>
          </p:nvSpPr>
          <p:spPr>
            <a:xfrm>
              <a:off x="3571875" y="3114675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Feature Correlation Matrix</a:t>
              </a:r>
              <a:endParaRPr sz="11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95" name="Google Shape;395;p18"/>
            <p:cNvSpPr txBox="1"/>
            <p:nvPr/>
          </p:nvSpPr>
          <p:spPr>
            <a:xfrm>
              <a:off x="3524250" y="3429000"/>
              <a:ext cx="619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Age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8"/>
            <p:cNvSpPr txBox="1"/>
            <p:nvPr/>
          </p:nvSpPr>
          <p:spPr>
            <a:xfrm>
              <a:off x="3524250" y="3714750"/>
              <a:ext cx="619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Balance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8"/>
            <p:cNvSpPr txBox="1"/>
            <p:nvPr/>
          </p:nvSpPr>
          <p:spPr>
            <a:xfrm>
              <a:off x="3524250" y="4000500"/>
              <a:ext cx="619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Duration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8"/>
            <p:cNvSpPr txBox="1"/>
            <p:nvPr/>
          </p:nvSpPr>
          <p:spPr>
            <a:xfrm>
              <a:off x="3524250" y="4286250"/>
              <a:ext cx="619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Campaign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4238625" y="33813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4524375" y="33813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4810125" y="33813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F9F8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5095875" y="33813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F4F7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4238625" y="36671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524375" y="36671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4810125" y="36671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5095875" y="36671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D4AF37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4238625" y="39528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F9F8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4524375" y="39528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4810125" y="39528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5095875" y="395287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4238625" y="42386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F4F7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4524375" y="42386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D4AF37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4810125" y="42386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5095875" y="4238625"/>
              <a:ext cx="228600" cy="228600"/>
            </a:xfrm>
            <a:prstGeom prst="roundRect">
              <a:avLst>
                <a:gd name="adj" fmla="val 8333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8"/>
            <p:cNvSpPr txBox="1"/>
            <p:nvPr/>
          </p:nvSpPr>
          <p:spPr>
            <a:xfrm>
              <a:off x="4210050" y="4524375"/>
              <a:ext cx="285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Age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8"/>
            <p:cNvSpPr txBox="1"/>
            <p:nvPr/>
          </p:nvSpPr>
          <p:spPr>
            <a:xfrm>
              <a:off x="4495800" y="4524375"/>
              <a:ext cx="285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Bal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8"/>
            <p:cNvSpPr txBox="1"/>
            <p:nvPr/>
          </p:nvSpPr>
          <p:spPr>
            <a:xfrm>
              <a:off x="4781550" y="4524375"/>
              <a:ext cx="285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Dur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8"/>
            <p:cNvSpPr txBox="1"/>
            <p:nvPr/>
          </p:nvSpPr>
          <p:spPr>
            <a:xfrm>
              <a:off x="5067300" y="4524375"/>
              <a:ext cx="285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Camp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8"/>
          <p:cNvGrpSpPr/>
          <p:nvPr/>
        </p:nvGrpSpPr>
        <p:grpSpPr>
          <a:xfrm>
            <a:off x="6286500" y="238125"/>
            <a:ext cx="2619300" cy="4667400"/>
            <a:chOff x="6286500" y="238125"/>
            <a:chExt cx="2619300" cy="4667400"/>
          </a:xfrm>
        </p:grpSpPr>
        <p:pic>
          <p:nvPicPr>
            <p:cNvPr id="420" name="Google Shape;420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86500" y="238125"/>
              <a:ext cx="2619300" cy="466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18"/>
            <p:cNvSpPr/>
            <p:nvPr/>
          </p:nvSpPr>
          <p:spPr>
            <a:xfrm>
              <a:off x="6477000" y="4953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8"/>
            <p:cNvSpPr txBox="1"/>
            <p:nvPr/>
          </p:nvSpPr>
          <p:spPr>
            <a:xfrm>
              <a:off x="6610350" y="4953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rPr>
                <a:t>Key Insights</a:t>
              </a:r>
              <a:endParaRPr/>
            </a:p>
          </p:txBody>
        </p:sp>
        <p:sp>
          <p:nvSpPr>
            <p:cNvPr id="425" name="Google Shape;425;p18"/>
            <p:cNvSpPr txBox="1"/>
            <p:nvPr/>
          </p:nvSpPr>
          <p:spPr>
            <a:xfrm>
              <a:off x="6762750" y="1047750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86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Imbalanced Targets</a:t>
              </a:r>
              <a:endParaRPr sz="78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rPr>
                <a:t>Majority of customers (88.5%) did not subscribe to the term deposit product.</a:t>
              </a:r>
              <a:endParaRPr sz="740" b="0">
                <a:solidFill>
                  <a:srgbClr val="E6EF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8"/>
            <p:cNvSpPr txBox="1"/>
            <p:nvPr/>
          </p:nvSpPr>
          <p:spPr>
            <a:xfrm>
              <a:off x="6762750" y="1714500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86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Active Age Brackets</a:t>
              </a:r>
              <a:endParaRPr sz="78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rPr>
                <a:t>Most targeted customers were clustered in the active 30–50 years age group.</a:t>
              </a:r>
              <a:endParaRPr sz="740" b="0">
                <a:solidFill>
                  <a:srgbClr val="E6EF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6762750" y="2381250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86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Occupation Profile</a:t>
              </a:r>
              <a:endParaRPr sz="78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rPr>
                <a:t>Administrative, management, and blue-collar segments constituted the major customer base.</a:t>
              </a:r>
              <a:endParaRPr sz="740" b="0">
                <a:solidFill>
                  <a:srgbClr val="E6EF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8"/>
            <p:cNvSpPr txBox="1"/>
            <p:nvPr/>
          </p:nvSpPr>
          <p:spPr>
            <a:xfrm>
              <a:off x="6762750" y="304800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86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Non-Linear Relations</a:t>
              </a:r>
              <a:endParaRPr sz="78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rPr>
                <a:t>Weak linear correlations suggest machine learning is vital to map multi-dimensional customer behavior patterns.</a:t>
              </a:r>
              <a:endParaRPr sz="740" b="0">
                <a:solidFill>
                  <a:srgbClr val="E6EF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5" name="Google Shape;435;p18"/>
            <p:cNvGrpSpPr/>
            <p:nvPr/>
          </p:nvGrpSpPr>
          <p:grpSpPr>
            <a:xfrm>
              <a:off x="6477000" y="4000500"/>
              <a:ext cx="2238300" cy="714375"/>
              <a:chOff x="6477000" y="4000500"/>
              <a:chExt cx="2238300" cy="714375"/>
            </a:xfrm>
          </p:grpSpPr>
          <p:sp>
            <p:nvSpPr>
              <p:cNvPr id="436" name="Google Shape;436;p18"/>
              <p:cNvSpPr/>
              <p:nvPr/>
            </p:nvSpPr>
            <p:spPr>
              <a:xfrm>
                <a:off x="6477000" y="4000500"/>
                <a:ext cx="2238300" cy="9600"/>
              </a:xfrm>
              <a:prstGeom prst="rect">
                <a:avLst/>
              </a:prstGeom>
              <a:solidFill>
                <a:srgbClr val="D4AF37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8"/>
              <p:cNvSpPr txBox="1"/>
              <p:nvPr/>
            </p:nvSpPr>
            <p:spPr>
              <a:xfrm>
                <a:off x="6477000" y="4143375"/>
                <a:ext cx="2238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86" b="1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NEXT STEP IN PIPELINE</a:t>
                </a:r>
                <a:endParaRPr sz="786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40" b="0" i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Proceeding to predictive modeling to handle the highlighted class imbalances.</a:t>
                </a:r>
                <a:endParaRPr sz="740" b="0" i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9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 Cleaning &amp; Preprocessing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48" name="Google Shape;448;p19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9" name="Google Shape;449;p19"/>
          <p:cNvGrpSpPr/>
          <p:nvPr/>
        </p:nvGrpSpPr>
        <p:grpSpPr>
          <a:xfrm>
            <a:off x="571500" y="1095375"/>
            <a:ext cx="3429000" cy="3467250"/>
            <a:chOff x="571500" y="1095375"/>
            <a:chExt cx="3429000" cy="3467250"/>
          </a:xfrm>
        </p:grpSpPr>
        <p:sp>
          <p:nvSpPr>
            <p:cNvPr id="450" name="Google Shape;450;p19"/>
            <p:cNvSpPr txBox="1"/>
            <p:nvPr/>
          </p:nvSpPr>
          <p:spPr>
            <a:xfrm>
              <a:off x="571500" y="1095375"/>
              <a:ext cx="3429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2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Vertical Processing Pipeline</a:t>
              </a:r>
              <a:endParaRPr sz="102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451" name="Google Shape;451;p19"/>
            <p:cNvGrpSpPr/>
            <p:nvPr/>
          </p:nvGrpSpPr>
          <p:grpSpPr>
            <a:xfrm>
              <a:off x="571500" y="1381125"/>
              <a:ext cx="2381400" cy="324000"/>
              <a:chOff x="571500" y="1381125"/>
              <a:chExt cx="2381400" cy="324000"/>
            </a:xfrm>
          </p:grpSpPr>
          <p:sp>
            <p:nvSpPr>
              <p:cNvPr id="452" name="Google Shape;452;p19"/>
              <p:cNvSpPr/>
              <p:nvPr/>
            </p:nvSpPr>
            <p:spPr>
              <a:xfrm>
                <a:off x="571500" y="138112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 txBox="1"/>
              <p:nvPr/>
            </p:nvSpPr>
            <p:spPr>
              <a:xfrm>
                <a:off x="952500" y="13811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Raw Dataset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55" name="Google Shape;455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170497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6" name="Google Shape;456;p19"/>
            <p:cNvGrpSpPr/>
            <p:nvPr/>
          </p:nvGrpSpPr>
          <p:grpSpPr>
            <a:xfrm>
              <a:off x="571500" y="1857375"/>
              <a:ext cx="2381400" cy="324000"/>
              <a:chOff x="571500" y="1857375"/>
              <a:chExt cx="2381400" cy="324000"/>
            </a:xfrm>
          </p:grpSpPr>
          <p:sp>
            <p:nvSpPr>
              <p:cNvPr id="457" name="Google Shape;457;p19"/>
              <p:cNvSpPr/>
              <p:nvPr/>
            </p:nvSpPr>
            <p:spPr>
              <a:xfrm>
                <a:off x="571500" y="185737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 txBox="1"/>
              <p:nvPr/>
            </p:nvSpPr>
            <p:spPr>
              <a:xfrm>
                <a:off x="952500" y="185737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Data Inspection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60" name="Google Shape;46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218122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1" name="Google Shape;461;p19"/>
            <p:cNvGrpSpPr/>
            <p:nvPr/>
          </p:nvGrpSpPr>
          <p:grpSpPr>
            <a:xfrm>
              <a:off x="571500" y="2333625"/>
              <a:ext cx="2381400" cy="324000"/>
              <a:chOff x="571500" y="2333625"/>
              <a:chExt cx="2381400" cy="324000"/>
            </a:xfrm>
          </p:grpSpPr>
          <p:sp>
            <p:nvSpPr>
              <p:cNvPr id="462" name="Google Shape;462;p19"/>
              <p:cNvSpPr/>
              <p:nvPr/>
            </p:nvSpPr>
            <p:spPr>
              <a:xfrm>
                <a:off x="571500" y="233362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 txBox="1"/>
              <p:nvPr/>
            </p:nvSpPr>
            <p:spPr>
              <a:xfrm>
                <a:off x="952500" y="23336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Missing Value Check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65" name="Google Shape;465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265747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6" name="Google Shape;466;p19"/>
            <p:cNvGrpSpPr/>
            <p:nvPr/>
          </p:nvGrpSpPr>
          <p:grpSpPr>
            <a:xfrm>
              <a:off x="571500" y="2809875"/>
              <a:ext cx="2381400" cy="324000"/>
              <a:chOff x="571500" y="2809875"/>
              <a:chExt cx="2381400" cy="324000"/>
            </a:xfrm>
          </p:grpSpPr>
          <p:sp>
            <p:nvSpPr>
              <p:cNvPr id="467" name="Google Shape;467;p19"/>
              <p:cNvSpPr/>
              <p:nvPr/>
            </p:nvSpPr>
            <p:spPr>
              <a:xfrm>
                <a:off x="571500" y="280987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 txBox="1"/>
              <p:nvPr/>
            </p:nvSpPr>
            <p:spPr>
              <a:xfrm>
                <a:off x="952500" y="280987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Record Check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70" name="Google Shape;47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313372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1" name="Google Shape;471;p19"/>
            <p:cNvGrpSpPr/>
            <p:nvPr/>
          </p:nvGrpSpPr>
          <p:grpSpPr>
            <a:xfrm>
              <a:off x="571500" y="3286125"/>
              <a:ext cx="2381400" cy="324000"/>
              <a:chOff x="571500" y="3286125"/>
              <a:chExt cx="2381400" cy="324000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571500" y="328612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 txBox="1"/>
              <p:nvPr/>
            </p:nvSpPr>
            <p:spPr>
              <a:xfrm>
                <a:off x="952500" y="32861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Data Type Verification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75" name="Google Shape;475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360997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6" name="Google Shape;476;p19"/>
            <p:cNvGrpSpPr/>
            <p:nvPr/>
          </p:nvGrpSpPr>
          <p:grpSpPr>
            <a:xfrm>
              <a:off x="571500" y="3762375"/>
              <a:ext cx="2381400" cy="324000"/>
              <a:chOff x="571500" y="3762375"/>
              <a:chExt cx="2381400" cy="324000"/>
            </a:xfrm>
          </p:grpSpPr>
          <p:sp>
            <p:nvSpPr>
              <p:cNvPr id="477" name="Google Shape;477;p19"/>
              <p:cNvSpPr/>
              <p:nvPr/>
            </p:nvSpPr>
            <p:spPr>
              <a:xfrm>
                <a:off x="571500" y="376237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 txBox="1"/>
              <p:nvPr/>
            </p:nvSpPr>
            <p:spPr>
              <a:xfrm>
                <a:off x="952500" y="376237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 Separation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80" name="Google Shape;4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600" y="4086225"/>
              <a:ext cx="19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1" name="Google Shape;481;p19"/>
            <p:cNvGrpSpPr/>
            <p:nvPr/>
          </p:nvGrpSpPr>
          <p:grpSpPr>
            <a:xfrm>
              <a:off x="571500" y="4238625"/>
              <a:ext cx="2381400" cy="324000"/>
              <a:chOff x="571500" y="4238625"/>
              <a:chExt cx="2381400" cy="324000"/>
            </a:xfrm>
          </p:grpSpPr>
          <p:sp>
            <p:nvSpPr>
              <p:cNvPr id="482" name="Google Shape;482;p19"/>
              <p:cNvSpPr/>
              <p:nvPr/>
            </p:nvSpPr>
            <p:spPr>
              <a:xfrm>
                <a:off x="571500" y="4238625"/>
                <a:ext cx="2381400" cy="324000"/>
              </a:xfrm>
              <a:prstGeom prst="roundRect">
                <a:avLst>
                  <a:gd name="adj" fmla="val 17647"/>
                </a:avLst>
              </a:prstGeom>
              <a:solidFill>
                <a:srgbClr val="0F6B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 txBox="1"/>
              <p:nvPr/>
            </p:nvSpPr>
            <p:spPr>
              <a:xfrm>
                <a:off x="952500" y="42386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Clean Dataset</a:t>
                </a:r>
                <a:endParaRPr sz="8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485" name="Google Shape;485;p19"/>
          <p:cNvCxnSpPr/>
          <p:nvPr/>
        </p:nvCxnSpPr>
        <p:spPr>
          <a:xfrm>
            <a:off x="3524250" y="1095375"/>
            <a:ext cx="0" cy="34767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6" name="Google Shape;486;p19"/>
          <p:cNvGrpSpPr/>
          <p:nvPr/>
        </p:nvGrpSpPr>
        <p:grpSpPr>
          <a:xfrm>
            <a:off x="3810000" y="1095375"/>
            <a:ext cx="4762500" cy="3333750"/>
            <a:chOff x="3810000" y="1095375"/>
            <a:chExt cx="4762500" cy="3333750"/>
          </a:xfrm>
        </p:grpSpPr>
        <p:sp>
          <p:nvSpPr>
            <p:cNvPr id="487" name="Google Shape;487;p19"/>
            <p:cNvSpPr txBox="1"/>
            <p:nvPr/>
          </p:nvSpPr>
          <p:spPr>
            <a:xfrm>
              <a:off x="3810000" y="1095375"/>
              <a:ext cx="476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2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Preprocessing Steps</a:t>
              </a:r>
              <a:endParaRPr sz="102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488" name="Google Shape;488;p19"/>
            <p:cNvGrpSpPr/>
            <p:nvPr/>
          </p:nvGrpSpPr>
          <p:grpSpPr>
            <a:xfrm>
              <a:off x="3810000" y="1381125"/>
              <a:ext cx="4762500" cy="533400"/>
              <a:chOff x="3810000" y="1381125"/>
              <a:chExt cx="4762500" cy="533400"/>
            </a:xfrm>
          </p:grpSpPr>
          <p:sp>
            <p:nvSpPr>
              <p:cNvPr id="489" name="Google Shape;489;p19"/>
              <p:cNvSpPr/>
              <p:nvPr/>
            </p:nvSpPr>
            <p:spPr>
              <a:xfrm>
                <a:off x="3810000" y="1381125"/>
                <a:ext cx="4762500" cy="5334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 txBox="1"/>
              <p:nvPr/>
            </p:nvSpPr>
            <p:spPr>
              <a:xfrm>
                <a:off x="3952875" y="1381125"/>
                <a:ext cx="28575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1: Missing Values</a:t>
                </a:r>
                <a:endParaRPr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950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 missing values found in database columns.</a:t>
                </a:r>
                <a:endParaRPr sz="950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9"/>
              <p:cNvSpPr txBox="1"/>
              <p:nvPr/>
            </p:nvSpPr>
            <p:spPr>
              <a:xfrm>
                <a:off x="8096250" y="1381125"/>
                <a:ext cx="333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19"/>
            <p:cNvGrpSpPr/>
            <p:nvPr/>
          </p:nvGrpSpPr>
          <p:grpSpPr>
            <a:xfrm>
              <a:off x="3810000" y="2009775"/>
              <a:ext cx="4762500" cy="533400"/>
              <a:chOff x="3810000" y="2009775"/>
              <a:chExt cx="4762500" cy="533400"/>
            </a:xfrm>
          </p:grpSpPr>
          <p:sp>
            <p:nvSpPr>
              <p:cNvPr id="493" name="Google Shape;493;p19"/>
              <p:cNvSpPr/>
              <p:nvPr/>
            </p:nvSpPr>
            <p:spPr>
              <a:xfrm>
                <a:off x="3810000" y="2009775"/>
                <a:ext cx="4762500" cy="5334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 txBox="1"/>
              <p:nvPr/>
            </p:nvSpPr>
            <p:spPr>
              <a:xfrm>
                <a:off x="3952875" y="2009775"/>
                <a:ext cx="28575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2: Duplicate Records</a:t>
                </a:r>
                <a:endParaRPr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950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No duplicate records detected during scan.</a:t>
                </a:r>
                <a:endParaRPr sz="950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9"/>
              <p:cNvSpPr txBox="1"/>
              <p:nvPr/>
            </p:nvSpPr>
            <p:spPr>
              <a:xfrm>
                <a:off x="8096250" y="2009775"/>
                <a:ext cx="333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19"/>
            <p:cNvGrpSpPr/>
            <p:nvPr/>
          </p:nvGrpSpPr>
          <p:grpSpPr>
            <a:xfrm>
              <a:off x="3810000" y="2638425"/>
              <a:ext cx="4762500" cy="533400"/>
              <a:chOff x="3810000" y="2638425"/>
              <a:chExt cx="4762500" cy="533400"/>
            </a:xfrm>
          </p:grpSpPr>
          <p:sp>
            <p:nvSpPr>
              <p:cNvPr id="497" name="Google Shape;497;p19"/>
              <p:cNvSpPr/>
              <p:nvPr/>
            </p:nvSpPr>
            <p:spPr>
              <a:xfrm>
                <a:off x="3810000" y="2638425"/>
                <a:ext cx="4762500" cy="5334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 txBox="1"/>
              <p:nvPr/>
            </p:nvSpPr>
            <p:spPr>
              <a:xfrm>
                <a:off x="3952875" y="2638425"/>
                <a:ext cx="28575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3: Data Types</a:t>
                </a:r>
                <a:endParaRPr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950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Verified numerical and categorical features.</a:t>
                </a:r>
                <a:endParaRPr sz="950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9"/>
              <p:cNvSpPr txBox="1"/>
              <p:nvPr/>
            </p:nvSpPr>
            <p:spPr>
              <a:xfrm>
                <a:off x="8096250" y="2638425"/>
                <a:ext cx="333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0" name="Google Shape;500;p19"/>
            <p:cNvGrpSpPr/>
            <p:nvPr/>
          </p:nvGrpSpPr>
          <p:grpSpPr>
            <a:xfrm>
              <a:off x="3810000" y="3267075"/>
              <a:ext cx="4762500" cy="533400"/>
              <a:chOff x="3810000" y="3267075"/>
              <a:chExt cx="4762500" cy="533400"/>
            </a:xfrm>
          </p:grpSpPr>
          <p:sp>
            <p:nvSpPr>
              <p:cNvPr id="501" name="Google Shape;501;p19"/>
              <p:cNvSpPr/>
              <p:nvPr/>
            </p:nvSpPr>
            <p:spPr>
              <a:xfrm>
                <a:off x="3810000" y="3267075"/>
                <a:ext cx="4762500" cy="5334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 txBox="1"/>
              <p:nvPr/>
            </p:nvSpPr>
            <p:spPr>
              <a:xfrm>
                <a:off x="3952875" y="3267075"/>
                <a:ext cx="28575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4: Feature Separation</a:t>
                </a:r>
                <a:endParaRPr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950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Features (X) separated from Target Variable (y).</a:t>
                </a:r>
                <a:endParaRPr sz="950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9"/>
              <p:cNvSpPr txBox="1"/>
              <p:nvPr/>
            </p:nvSpPr>
            <p:spPr>
              <a:xfrm>
                <a:off x="8096250" y="3267075"/>
                <a:ext cx="333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4" name="Google Shape;504;p19"/>
            <p:cNvGrpSpPr/>
            <p:nvPr/>
          </p:nvGrpSpPr>
          <p:grpSpPr>
            <a:xfrm>
              <a:off x="3810000" y="3895725"/>
              <a:ext cx="4762500" cy="533400"/>
              <a:chOff x="3810000" y="3895725"/>
              <a:chExt cx="4762500" cy="533400"/>
            </a:xfrm>
          </p:grpSpPr>
          <p:sp>
            <p:nvSpPr>
              <p:cNvPr id="505" name="Google Shape;505;p19"/>
              <p:cNvSpPr/>
              <p:nvPr/>
            </p:nvSpPr>
            <p:spPr>
              <a:xfrm>
                <a:off x="3810000" y="3895725"/>
                <a:ext cx="4762500" cy="533400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 txBox="1"/>
              <p:nvPr/>
            </p:nvSpPr>
            <p:spPr>
              <a:xfrm>
                <a:off x="3952875" y="3895725"/>
                <a:ext cx="28575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5: Target Variable</a:t>
                </a:r>
                <a:endParaRPr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950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Binary Classification: Yes = Subscribed, No = Not Subscribed.</a:t>
                </a:r>
                <a:endParaRPr sz="950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9"/>
              <p:cNvSpPr txBox="1"/>
              <p:nvPr/>
            </p:nvSpPr>
            <p:spPr>
              <a:xfrm>
                <a:off x="8096250" y="3895725"/>
                <a:ext cx="333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8" name="Google Shape;508;p19"/>
          <p:cNvGrpSpPr/>
          <p:nvPr/>
        </p:nvGrpSpPr>
        <p:grpSpPr>
          <a:xfrm>
            <a:off x="571500" y="4572000"/>
            <a:ext cx="8001000" cy="381000"/>
            <a:chOff x="571500" y="4572000"/>
            <a:chExt cx="8001000" cy="381000"/>
          </a:xfrm>
        </p:grpSpPr>
        <p:sp>
          <p:nvSpPr>
            <p:cNvPr id="509" name="Google Shape;509;p19"/>
            <p:cNvSpPr/>
            <p:nvPr/>
          </p:nvSpPr>
          <p:spPr>
            <a:xfrm>
              <a:off x="571500" y="4572000"/>
              <a:ext cx="8001000" cy="381000"/>
            </a:xfrm>
            <a:prstGeom prst="roundRect">
              <a:avLst>
                <a:gd name="adj" fmla="val 15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685800" y="46482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9"/>
            <p:cNvSpPr txBox="1"/>
            <p:nvPr/>
          </p:nvSpPr>
          <p:spPr>
            <a:xfrm>
              <a:off x="819150" y="4572000"/>
              <a:ext cx="756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FOUNDATION RULE</a:t>
              </a:r>
              <a:r>
                <a:rPr lang="en-GB" sz="110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"Clean and reliable data is the foundation of every successful Machine Learning model."</a:t>
              </a:r>
              <a:endParaRPr sz="110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9" name="Google Shape;51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0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Feature Engineering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22" name="Google Shape;522;p20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3" name="Google Shape;523;p20"/>
          <p:cNvGrpSpPr/>
          <p:nvPr/>
        </p:nvGrpSpPr>
        <p:grpSpPr>
          <a:xfrm>
            <a:off x="566738" y="1066800"/>
            <a:ext cx="2390700" cy="3143325"/>
            <a:chOff x="566738" y="1066800"/>
            <a:chExt cx="2390700" cy="3143325"/>
          </a:xfrm>
        </p:grpSpPr>
        <p:sp>
          <p:nvSpPr>
            <p:cNvPr id="524" name="Google Shape;524;p20"/>
            <p:cNvSpPr txBox="1"/>
            <p:nvPr/>
          </p:nvSpPr>
          <p:spPr>
            <a:xfrm>
              <a:off x="571500" y="10668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Vertical Processing Pipeline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25" name="Google Shape;525;p20"/>
            <p:cNvGrpSpPr/>
            <p:nvPr/>
          </p:nvGrpSpPr>
          <p:grpSpPr>
            <a:xfrm>
              <a:off x="566738" y="1376363"/>
              <a:ext cx="2390700" cy="2833762"/>
              <a:chOff x="566738" y="1376363"/>
              <a:chExt cx="2390700" cy="2833762"/>
            </a:xfrm>
          </p:grpSpPr>
          <p:pic>
            <p:nvPicPr>
              <p:cNvPr id="526" name="Google Shape;526;p2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752600" y="1381125"/>
                <a:ext cx="19200" cy="2829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7" name="Google Shape;527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6738" y="1376363"/>
                <a:ext cx="2390700" cy="3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9" name="Google Shape;529;p20"/>
              <p:cNvSpPr txBox="1"/>
              <p:nvPr/>
            </p:nvSpPr>
            <p:spPr>
              <a:xfrm>
                <a:off x="933450" y="13811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Raw Features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0" name="Google Shape;530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6738" y="1947863"/>
                <a:ext cx="2390700" cy="3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2" name="Google Shape;532;p20"/>
              <p:cNvSpPr txBox="1"/>
              <p:nvPr/>
            </p:nvSpPr>
            <p:spPr>
              <a:xfrm>
                <a:off x="933450" y="19526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 Analysis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3" name="Google Shape;533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6738" y="2519363"/>
                <a:ext cx="2390700" cy="3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5" name="Google Shape;535;p20"/>
              <p:cNvSpPr txBox="1"/>
              <p:nvPr/>
            </p:nvSpPr>
            <p:spPr>
              <a:xfrm>
                <a:off x="933450" y="25241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 Engineering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6" name="Google Shape;536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6738" y="3090863"/>
                <a:ext cx="2390700" cy="3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8" name="Google Shape;538;p20"/>
              <p:cNvSpPr txBox="1"/>
              <p:nvPr/>
            </p:nvSpPr>
            <p:spPr>
              <a:xfrm>
                <a:off x="933450" y="30956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 Selection</a:t>
                </a:r>
                <a:endParaRPr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9" name="Google Shape;539;p2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71500" y="3667125"/>
                <a:ext cx="23814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1" name="Google Shape;541;p20"/>
              <p:cNvSpPr txBox="1"/>
              <p:nvPr/>
            </p:nvSpPr>
            <p:spPr>
              <a:xfrm>
                <a:off x="933450" y="3667125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Enhanced Dataset</a:t>
                </a:r>
                <a:endParaRPr sz="8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42" name="Google Shape;542;p20"/>
          <p:cNvCxnSpPr/>
          <p:nvPr/>
        </p:nvCxnSpPr>
        <p:spPr>
          <a:xfrm>
            <a:off x="3286125" y="1095375"/>
            <a:ext cx="0" cy="30003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43" name="Google Shape;543;p20"/>
          <p:cNvGrpSpPr/>
          <p:nvPr/>
        </p:nvGrpSpPr>
        <p:grpSpPr>
          <a:xfrm>
            <a:off x="3567113" y="1066800"/>
            <a:ext cx="5010075" cy="2166863"/>
            <a:chOff x="3567113" y="1066800"/>
            <a:chExt cx="5010075" cy="2166863"/>
          </a:xfrm>
        </p:grpSpPr>
        <p:sp>
          <p:nvSpPr>
            <p:cNvPr id="544" name="Google Shape;544;p20"/>
            <p:cNvSpPr txBox="1"/>
            <p:nvPr/>
          </p:nvSpPr>
          <p:spPr>
            <a:xfrm>
              <a:off x="3571875" y="1066800"/>
              <a:ext cx="5000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Feature Engineering Process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545" name="Google Shape;545;p20"/>
            <p:cNvGrpSpPr/>
            <p:nvPr/>
          </p:nvGrpSpPr>
          <p:grpSpPr>
            <a:xfrm>
              <a:off x="3567113" y="1376363"/>
              <a:ext cx="5010075" cy="1857300"/>
              <a:chOff x="3567113" y="1376363"/>
              <a:chExt cx="5010075" cy="1857300"/>
            </a:xfrm>
          </p:grpSpPr>
          <p:pic>
            <p:nvPicPr>
              <p:cNvPr id="546" name="Google Shape;546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3567113" y="137636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7" name="Google Shape;547;p20"/>
              <p:cNvSpPr txBox="1"/>
              <p:nvPr/>
            </p:nvSpPr>
            <p:spPr>
              <a:xfrm>
                <a:off x="3714750" y="138112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1: Feature Analysis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Studied numerical and categorical variables.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20"/>
              <p:cNvSpPr txBox="1"/>
              <p:nvPr/>
            </p:nvSpPr>
            <p:spPr>
              <a:xfrm>
                <a:off x="5667375" y="138112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49" name="Google Shape;549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186488" y="137636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0" name="Google Shape;550;p20"/>
              <p:cNvSpPr txBox="1"/>
              <p:nvPr/>
            </p:nvSpPr>
            <p:spPr>
              <a:xfrm>
                <a:off x="6334125" y="138112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2: Categorical Features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Identified variables requiring One-Hot Encoding.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0"/>
              <p:cNvSpPr txBox="1"/>
              <p:nvPr/>
            </p:nvSpPr>
            <p:spPr>
              <a:xfrm>
                <a:off x="8286750" y="138112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2" name="Google Shape;552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3567113" y="204311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3" name="Google Shape;553;p20"/>
              <p:cNvSpPr txBox="1"/>
              <p:nvPr/>
            </p:nvSpPr>
            <p:spPr>
              <a:xfrm>
                <a:off x="3714750" y="204787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3: Numerical Features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Identified variables requiring Feature Scaling.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0"/>
              <p:cNvSpPr txBox="1"/>
              <p:nvPr/>
            </p:nvSpPr>
            <p:spPr>
              <a:xfrm>
                <a:off x="5667375" y="204787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5" name="Google Shape;555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186488" y="204311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6" name="Google Shape;556;p20"/>
              <p:cNvSpPr txBox="1"/>
              <p:nvPr/>
            </p:nvSpPr>
            <p:spPr>
              <a:xfrm>
                <a:off x="6334125" y="204787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4: Feature Relationships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Examined feature importance and correlations.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0"/>
              <p:cNvSpPr txBox="1"/>
              <p:nvPr/>
            </p:nvSpPr>
            <p:spPr>
              <a:xfrm>
                <a:off x="8286750" y="204787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8" name="Google Shape;558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3567113" y="270986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9" name="Google Shape;559;p20"/>
              <p:cNvSpPr txBox="1"/>
              <p:nvPr/>
            </p:nvSpPr>
            <p:spPr>
              <a:xfrm>
                <a:off x="3714750" y="271462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5: Feature Selection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Retained relevant features for model training.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0"/>
              <p:cNvSpPr txBox="1"/>
              <p:nvPr/>
            </p:nvSpPr>
            <p:spPr>
              <a:xfrm>
                <a:off x="5667375" y="271462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1" name="Google Shape;561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186488" y="2709863"/>
                <a:ext cx="2390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2" name="Google Shape;562;p20"/>
              <p:cNvSpPr txBox="1"/>
              <p:nvPr/>
            </p:nvSpPr>
            <p:spPr>
              <a:xfrm>
                <a:off x="6334125" y="2714625"/>
                <a:ext cx="19050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6: Prepared Dataset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Optimized dataset ready for Machine Learning.</a:t>
                </a:r>
                <a:endParaRPr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0"/>
              <p:cNvSpPr txBox="1"/>
              <p:nvPr/>
            </p:nvSpPr>
            <p:spPr>
              <a:xfrm>
                <a:off x="8286750" y="2714625"/>
                <a:ext cx="1905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✓</a:t>
                </a:r>
                <a:endParaRPr sz="10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4" name="Google Shape;564;p20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pic>
          <p:nvPicPr>
            <p:cNvPr id="565" name="Google Shape;565;p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1500" y="4333875"/>
              <a:ext cx="8001000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2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14375" y="4429125"/>
              <a:ext cx="381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20"/>
            <p:cNvSpPr txBox="1"/>
            <p:nvPr/>
          </p:nvSpPr>
          <p:spPr>
            <a:xfrm>
              <a:off x="904875" y="4333875"/>
              <a:ext cx="74772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VALUABLE METRIC</a:t>
              </a:r>
              <a:endParaRPr sz="80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3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"Effective Feature Engineering transforms raw data into meaningful information for better model performance."</a:t>
              </a:r>
              <a:endParaRPr sz="853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1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 Preparation for Machine Learning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78" name="Google Shape;578;p21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9" name="Google Shape;579;p21"/>
          <p:cNvGrpSpPr/>
          <p:nvPr/>
        </p:nvGrpSpPr>
        <p:grpSpPr>
          <a:xfrm>
            <a:off x="571500" y="1095375"/>
            <a:ext cx="1285800" cy="619200"/>
            <a:chOff x="571500" y="1095375"/>
            <a:chExt cx="1285800" cy="619200"/>
          </a:xfrm>
        </p:grpSpPr>
        <p:sp>
          <p:nvSpPr>
            <p:cNvPr id="580" name="Google Shape;580;p21"/>
            <p:cNvSpPr/>
            <p:nvPr/>
          </p:nvSpPr>
          <p:spPr>
            <a:xfrm>
              <a:off x="571500" y="1095375"/>
              <a:ext cx="1285800" cy="6192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1"/>
            <p:cNvSpPr txBox="1"/>
            <p:nvPr/>
          </p:nvSpPr>
          <p:spPr>
            <a:xfrm>
              <a:off x="904875" y="1133475"/>
              <a:ext cx="8763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1. Raw Dataset</a:t>
              </a:r>
              <a:endParaRPr sz="8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0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Input structured banking records</a:t>
              </a:r>
              <a:endParaRPr sz="70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3" name="Google Shape;58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347788"/>
            <a:ext cx="1716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p21"/>
          <p:cNvGrpSpPr/>
          <p:nvPr/>
        </p:nvGrpSpPr>
        <p:grpSpPr>
          <a:xfrm>
            <a:off x="2143125" y="1095375"/>
            <a:ext cx="1285800" cy="619200"/>
            <a:chOff x="2143125" y="1095375"/>
            <a:chExt cx="1285800" cy="619200"/>
          </a:xfrm>
        </p:grpSpPr>
        <p:sp>
          <p:nvSpPr>
            <p:cNvPr id="585" name="Google Shape;585;p21"/>
            <p:cNvSpPr/>
            <p:nvPr/>
          </p:nvSpPr>
          <p:spPr>
            <a:xfrm>
              <a:off x="2143125" y="1095375"/>
              <a:ext cx="1285800" cy="6192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1"/>
            <p:cNvSpPr txBox="1"/>
            <p:nvPr/>
          </p:nvSpPr>
          <p:spPr>
            <a:xfrm>
              <a:off x="2476500" y="1133475"/>
              <a:ext cx="8763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2. Train-Test Split</a:t>
              </a:r>
              <a:endParaRPr sz="8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0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Partition data into 80/20 sets</a:t>
              </a:r>
              <a:endParaRPr sz="70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8" name="Google Shape;58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6150" y="1347788"/>
            <a:ext cx="1716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21"/>
          <p:cNvGrpSpPr/>
          <p:nvPr/>
        </p:nvGrpSpPr>
        <p:grpSpPr>
          <a:xfrm>
            <a:off x="3714750" y="1095375"/>
            <a:ext cx="1285800" cy="619200"/>
            <a:chOff x="3714750" y="1095375"/>
            <a:chExt cx="1285800" cy="619200"/>
          </a:xfrm>
        </p:grpSpPr>
        <p:sp>
          <p:nvSpPr>
            <p:cNvPr id="590" name="Google Shape;590;p21"/>
            <p:cNvSpPr/>
            <p:nvPr/>
          </p:nvSpPr>
          <p:spPr>
            <a:xfrm>
              <a:off x="3714750" y="1095375"/>
              <a:ext cx="1285800" cy="6192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 txBox="1"/>
            <p:nvPr/>
          </p:nvSpPr>
          <p:spPr>
            <a:xfrm>
              <a:off x="4048125" y="1133475"/>
              <a:ext cx="8763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3. One-Hot Encode</a:t>
              </a:r>
              <a:endParaRPr sz="8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0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Categorical features conversion</a:t>
              </a:r>
              <a:endParaRPr sz="70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3" name="Google Shape;5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7775" y="1347788"/>
            <a:ext cx="1716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21"/>
          <p:cNvGrpSpPr/>
          <p:nvPr/>
        </p:nvGrpSpPr>
        <p:grpSpPr>
          <a:xfrm>
            <a:off x="5286375" y="1095375"/>
            <a:ext cx="1285800" cy="619200"/>
            <a:chOff x="5286375" y="1095375"/>
            <a:chExt cx="1285800" cy="619200"/>
          </a:xfrm>
        </p:grpSpPr>
        <p:sp>
          <p:nvSpPr>
            <p:cNvPr id="595" name="Google Shape;595;p21"/>
            <p:cNvSpPr/>
            <p:nvPr/>
          </p:nvSpPr>
          <p:spPr>
            <a:xfrm>
              <a:off x="5286375" y="1095375"/>
              <a:ext cx="1285800" cy="619200"/>
            </a:xfrm>
            <a:prstGeom prst="roundRect">
              <a:avLst>
                <a:gd name="adj" fmla="val 9230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 txBox="1"/>
            <p:nvPr/>
          </p:nvSpPr>
          <p:spPr>
            <a:xfrm>
              <a:off x="5619750" y="1133475"/>
              <a:ext cx="8763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4. Feature Scaling</a:t>
              </a:r>
              <a:endParaRPr sz="8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0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Normalize numerical vectors</a:t>
              </a:r>
              <a:endParaRPr sz="70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8" name="Google Shape;59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9400" y="1347788"/>
            <a:ext cx="1716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9" name="Google Shape;599;p21"/>
          <p:cNvGrpSpPr/>
          <p:nvPr/>
        </p:nvGrpSpPr>
        <p:grpSpPr>
          <a:xfrm>
            <a:off x="6858000" y="1095375"/>
            <a:ext cx="1714500" cy="619200"/>
            <a:chOff x="6858000" y="1095375"/>
            <a:chExt cx="1714500" cy="619200"/>
          </a:xfrm>
        </p:grpSpPr>
        <p:sp>
          <p:nvSpPr>
            <p:cNvPr id="600" name="Google Shape;600;p21"/>
            <p:cNvSpPr/>
            <p:nvPr/>
          </p:nvSpPr>
          <p:spPr>
            <a:xfrm>
              <a:off x="6858000" y="1095375"/>
              <a:ext cx="1714500" cy="619200"/>
            </a:xfrm>
            <a:prstGeom prst="roundRect">
              <a:avLst>
                <a:gd name="adj" fmla="val 923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/>
            <p:cNvSpPr txBox="1"/>
            <p:nvPr/>
          </p:nvSpPr>
          <p:spPr>
            <a:xfrm>
              <a:off x="7219950" y="1133475"/>
              <a:ext cx="12573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5. Prepared Dataset</a:t>
              </a:r>
              <a:endParaRPr sz="85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00" b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rPr>
                <a:t>Model-ready state reached</a:t>
              </a:r>
              <a:endParaRPr sz="700" b="0">
                <a:solidFill>
                  <a:srgbClr val="E6EFE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3" name="Google Shape;60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3"/>
            <a:ext cx="79821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4" name="Google Shape;604;p21"/>
          <p:cNvGrpSpPr/>
          <p:nvPr/>
        </p:nvGrpSpPr>
        <p:grpSpPr>
          <a:xfrm>
            <a:off x="566738" y="2138363"/>
            <a:ext cx="2533800" cy="1866900"/>
            <a:chOff x="566738" y="2138363"/>
            <a:chExt cx="2533800" cy="1866900"/>
          </a:xfrm>
        </p:grpSpPr>
        <p:pic>
          <p:nvPicPr>
            <p:cNvPr id="605" name="Google Shape;605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738" y="2138363"/>
              <a:ext cx="2533800" cy="186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21"/>
            <p:cNvSpPr/>
            <p:nvPr/>
          </p:nvSpPr>
          <p:spPr>
            <a:xfrm>
              <a:off x="571500" y="2143125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571500" y="2428875"/>
              <a:ext cx="25242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1"/>
            <p:cNvSpPr txBox="1"/>
            <p:nvPr/>
          </p:nvSpPr>
          <p:spPr>
            <a:xfrm>
              <a:off x="971550" y="2143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Train-Test Split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0" name="Google Shape;610;p21"/>
            <p:cNvSpPr txBox="1"/>
            <p:nvPr/>
          </p:nvSpPr>
          <p:spPr>
            <a:xfrm>
              <a:off x="714375" y="2667000"/>
              <a:ext cx="2238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GB"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80% Training Data</a:t>
              </a: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allocated for machine learning model development.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GB"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20% Testing Data</a:t>
              </a: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reserved for final model validation.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random_state set to </a:t>
              </a:r>
              <a:r>
                <a:rPr lang="en-GB"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42</a:t>
              </a: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to ensure deterministic splits.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21"/>
          <p:cNvGrpSpPr/>
          <p:nvPr/>
        </p:nvGrpSpPr>
        <p:grpSpPr>
          <a:xfrm>
            <a:off x="3300413" y="2138363"/>
            <a:ext cx="2543100" cy="1866900"/>
            <a:chOff x="3300413" y="2138363"/>
            <a:chExt cx="2543100" cy="1866900"/>
          </a:xfrm>
        </p:grpSpPr>
        <p:pic>
          <p:nvPicPr>
            <p:cNvPr id="612" name="Google Shape;612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00413" y="2138363"/>
              <a:ext cx="2543100" cy="186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21"/>
            <p:cNvSpPr/>
            <p:nvPr/>
          </p:nvSpPr>
          <p:spPr>
            <a:xfrm>
              <a:off x="3305175" y="2143125"/>
              <a:ext cx="2533800" cy="381000"/>
            </a:xfrm>
            <a:prstGeom prst="roundRect">
              <a:avLst>
                <a:gd name="adj" fmla="val 2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3305175" y="2428875"/>
              <a:ext cx="25338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1"/>
            <p:cNvSpPr txBox="1"/>
            <p:nvPr/>
          </p:nvSpPr>
          <p:spPr>
            <a:xfrm>
              <a:off x="3705225" y="2143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One-Hot Encoding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17" name="Google Shape;617;p21"/>
            <p:cNvSpPr txBox="1"/>
            <p:nvPr/>
          </p:nvSpPr>
          <p:spPr>
            <a:xfrm>
              <a:off x="3448050" y="2667000"/>
              <a:ext cx="224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Applied specifically to categorical values in the bank database.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Converts string features into binary numeric matrices.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Enables mathematical estimators to process categories.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21"/>
          <p:cNvGrpSpPr/>
          <p:nvPr/>
        </p:nvGrpSpPr>
        <p:grpSpPr>
          <a:xfrm>
            <a:off x="6043613" y="2138363"/>
            <a:ext cx="2533800" cy="1866900"/>
            <a:chOff x="6043613" y="2138363"/>
            <a:chExt cx="2533800" cy="1866900"/>
          </a:xfrm>
        </p:grpSpPr>
        <p:pic>
          <p:nvPicPr>
            <p:cNvPr id="619" name="Google Shape;619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43613" y="2138363"/>
              <a:ext cx="2533800" cy="186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21"/>
            <p:cNvSpPr/>
            <p:nvPr/>
          </p:nvSpPr>
          <p:spPr>
            <a:xfrm>
              <a:off x="6048375" y="2143125"/>
              <a:ext cx="2524200" cy="381000"/>
            </a:xfrm>
            <a:prstGeom prst="roundRect">
              <a:avLst>
                <a:gd name="adj" fmla="val 20000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6048375" y="2428875"/>
              <a:ext cx="25242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1"/>
            <p:cNvSpPr txBox="1"/>
            <p:nvPr/>
          </p:nvSpPr>
          <p:spPr>
            <a:xfrm>
              <a:off x="6448425" y="2143125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Feature Scaling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24" name="Google Shape;624;p21"/>
            <p:cNvSpPr txBox="1"/>
            <p:nvPr/>
          </p:nvSpPr>
          <p:spPr>
            <a:xfrm>
              <a:off x="6191250" y="2667000"/>
              <a:ext cx="2238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Uses </a:t>
              </a:r>
              <a:r>
                <a:rPr lang="en-GB" sz="85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StandardScaler</a:t>
              </a: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to standardize feature variance.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Applied strictly to numerical values to avoid target leakage.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8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Essential for distance-based ML like Logistic Regression.</a:t>
              </a:r>
              <a:endParaRPr sz="8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21"/>
          <p:cNvGrpSpPr/>
          <p:nvPr/>
        </p:nvGrpSpPr>
        <p:grpSpPr>
          <a:xfrm>
            <a:off x="571500" y="4238625"/>
            <a:ext cx="8001000" cy="428700"/>
            <a:chOff x="571500" y="4238625"/>
            <a:chExt cx="8001000" cy="428700"/>
          </a:xfrm>
        </p:grpSpPr>
        <p:pic>
          <p:nvPicPr>
            <p:cNvPr id="626" name="Google Shape;626;p2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1500" y="423862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2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85800" y="4314825"/>
              <a:ext cx="38100" cy="2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21"/>
            <p:cNvSpPr txBox="1"/>
            <p:nvPr/>
          </p:nvSpPr>
          <p:spPr>
            <a:xfrm>
              <a:off x="838200" y="4238625"/>
              <a:ext cx="7524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VALUABLE PROCESS </a:t>
              </a:r>
              <a:r>
                <a:rPr lang="en-GB" sz="95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"Proper data preparation ensures fair model training, prevents data leakage, and improves prediction performance."</a:t>
              </a:r>
              <a:endParaRPr sz="95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6" name="Google Shape;6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2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Machine Learning Models Used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39" name="Google Shape;639;p22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40" name="Google Shape;640;p22"/>
          <p:cNvGrpSpPr/>
          <p:nvPr/>
        </p:nvGrpSpPr>
        <p:grpSpPr>
          <a:xfrm>
            <a:off x="566738" y="1090613"/>
            <a:ext cx="2390700" cy="1152600"/>
            <a:chOff x="566738" y="1090613"/>
            <a:chExt cx="2390700" cy="1152600"/>
          </a:xfrm>
        </p:grpSpPr>
        <p:pic>
          <p:nvPicPr>
            <p:cNvPr id="641" name="Google Shape;641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738" y="1090613"/>
              <a:ext cx="2390700" cy="11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22"/>
            <p:cNvSpPr txBox="1"/>
            <p:nvPr/>
          </p:nvSpPr>
          <p:spPr>
            <a:xfrm>
              <a:off x="1047750" y="1190625"/>
              <a:ext cx="17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8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Logistic Regression</a:t>
              </a:r>
              <a:endParaRPr sz="1018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4" name="Google Shape;644;p22"/>
            <p:cNvSpPr txBox="1"/>
            <p:nvPr/>
          </p:nvSpPr>
          <p:spPr>
            <a:xfrm>
              <a:off x="714375" y="1524000"/>
              <a:ext cx="2095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82575" algn="l" rtl="0"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Baseline Classification Model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Predicts Probability using Sigmoid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15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Fast and Interpretable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22"/>
          <p:cNvGrpSpPr/>
          <p:nvPr/>
        </p:nvGrpSpPr>
        <p:grpSpPr>
          <a:xfrm>
            <a:off x="3138488" y="1090613"/>
            <a:ext cx="2390700" cy="1152600"/>
            <a:chOff x="3138488" y="1090613"/>
            <a:chExt cx="2390700" cy="1152600"/>
          </a:xfrm>
        </p:grpSpPr>
        <p:pic>
          <p:nvPicPr>
            <p:cNvPr id="646" name="Google Shape;646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38488" y="1090613"/>
              <a:ext cx="2390700" cy="11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22"/>
            <p:cNvSpPr txBox="1"/>
            <p:nvPr/>
          </p:nvSpPr>
          <p:spPr>
            <a:xfrm>
              <a:off x="3619500" y="1190625"/>
              <a:ext cx="17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8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Decision Tree</a:t>
              </a:r>
              <a:endParaRPr sz="1018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49" name="Google Shape;649;p22"/>
            <p:cNvSpPr txBox="1"/>
            <p:nvPr/>
          </p:nvSpPr>
          <p:spPr>
            <a:xfrm>
              <a:off x="3286125" y="1524000"/>
              <a:ext cx="2095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82575" algn="l" rtl="0"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Rule-Based Learning</a:t>
              </a:r>
              <a:endParaRPr sz="850" b="0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Easy to Interpret</a:t>
              </a:r>
              <a:endParaRPr sz="850" b="0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15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Handles Non-Linear Relations</a:t>
              </a:r>
              <a:endParaRPr sz="850" b="0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p22"/>
          <p:cNvGrpSpPr/>
          <p:nvPr/>
        </p:nvGrpSpPr>
        <p:grpSpPr>
          <a:xfrm>
            <a:off x="566738" y="2424113"/>
            <a:ext cx="2390700" cy="1152600"/>
            <a:chOff x="566738" y="2424113"/>
            <a:chExt cx="2390700" cy="1152600"/>
          </a:xfrm>
        </p:grpSpPr>
        <p:pic>
          <p:nvPicPr>
            <p:cNvPr id="651" name="Google Shape;651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738" y="2424113"/>
              <a:ext cx="2390700" cy="11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22"/>
            <p:cNvSpPr txBox="1"/>
            <p:nvPr/>
          </p:nvSpPr>
          <p:spPr>
            <a:xfrm>
              <a:off x="1047750" y="2524125"/>
              <a:ext cx="17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8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Random Forest</a:t>
              </a:r>
              <a:endParaRPr sz="1018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54" name="Google Shape;654;p22"/>
            <p:cNvSpPr txBox="1"/>
            <p:nvPr/>
          </p:nvSpPr>
          <p:spPr>
            <a:xfrm>
              <a:off x="714375" y="2857500"/>
              <a:ext cx="2095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82575" algn="l" rtl="0"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Ensemble Learning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Combines Multiple Decision Trees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15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Improves Accuracy &amp; Reduces Fit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22"/>
          <p:cNvGrpSpPr/>
          <p:nvPr/>
        </p:nvGrpSpPr>
        <p:grpSpPr>
          <a:xfrm>
            <a:off x="3138488" y="2424113"/>
            <a:ext cx="2390700" cy="1152600"/>
            <a:chOff x="3138488" y="2424113"/>
            <a:chExt cx="2390700" cy="1152600"/>
          </a:xfrm>
        </p:grpSpPr>
        <p:pic>
          <p:nvPicPr>
            <p:cNvPr id="656" name="Google Shape;656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38488" y="2424113"/>
              <a:ext cx="2390700" cy="1152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22"/>
            <p:cNvSpPr txBox="1"/>
            <p:nvPr/>
          </p:nvSpPr>
          <p:spPr>
            <a:xfrm>
              <a:off x="3619500" y="2524125"/>
              <a:ext cx="17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8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XGBoost</a:t>
              </a:r>
              <a:endParaRPr sz="1018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59" name="Google Shape;659;p22"/>
            <p:cNvSpPr txBox="1"/>
            <p:nvPr/>
          </p:nvSpPr>
          <p:spPr>
            <a:xfrm>
              <a:off x="3286125" y="2857500"/>
              <a:ext cx="2095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282575" algn="l" rtl="0"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Gradient Boosting Algorithm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High Prediction Accuracy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282575" algn="l" rtl="0">
                <a:spcBef>
                  <a:spcPts val="150"/>
                </a:spcBef>
                <a:spcAft>
                  <a:spcPts val="150"/>
                </a:spcAft>
                <a:buClr>
                  <a:srgbClr val="555555"/>
                </a:buClr>
                <a:buSzPts val="850"/>
                <a:buFont typeface="Arial"/>
                <a:buChar char="●"/>
              </a:pPr>
              <a:r>
                <a:rPr lang="en-GB" sz="85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Best Performing Model</a:t>
              </a:r>
              <a:endParaRPr sz="850" b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0" name="Google Shape;660;p22"/>
          <p:cNvCxnSpPr/>
          <p:nvPr/>
        </p:nvCxnSpPr>
        <p:spPr>
          <a:xfrm>
            <a:off x="5762625" y="1095375"/>
            <a:ext cx="0" cy="24765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61" name="Google Shape;661;p22"/>
          <p:cNvGrpSpPr/>
          <p:nvPr/>
        </p:nvGrpSpPr>
        <p:grpSpPr>
          <a:xfrm>
            <a:off x="5953125" y="1095375"/>
            <a:ext cx="2619300" cy="2428875"/>
            <a:chOff x="5953125" y="1095375"/>
            <a:chExt cx="2619300" cy="2428875"/>
          </a:xfrm>
        </p:grpSpPr>
        <p:sp>
          <p:nvSpPr>
            <p:cNvPr id="662" name="Google Shape;662;p22"/>
            <p:cNvSpPr txBox="1"/>
            <p:nvPr/>
          </p:nvSpPr>
          <p:spPr>
            <a:xfrm>
              <a:off x="5953125" y="1095375"/>
              <a:ext cx="2619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8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Comparison Strategy</a:t>
              </a:r>
              <a:endParaRPr sz="1018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663" name="Google Shape;663;p22"/>
            <p:cNvGrpSpPr/>
            <p:nvPr/>
          </p:nvGrpSpPr>
          <p:grpSpPr>
            <a:xfrm>
              <a:off x="6043613" y="1423988"/>
              <a:ext cx="1104900" cy="533400"/>
              <a:chOff x="6043613" y="1423988"/>
              <a:chExt cx="1104900" cy="533400"/>
            </a:xfrm>
          </p:grpSpPr>
          <p:pic>
            <p:nvPicPr>
              <p:cNvPr id="664" name="Google Shape;664;p2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043613" y="1423988"/>
                <a:ext cx="11049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22"/>
              <p:cNvSpPr txBox="1"/>
              <p:nvPr/>
            </p:nvSpPr>
            <p:spPr>
              <a:xfrm>
                <a:off x="6048375" y="1476375"/>
                <a:ext cx="1095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ACCURACY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2"/>
              <p:cNvSpPr txBox="1"/>
              <p:nvPr/>
            </p:nvSpPr>
            <p:spPr>
              <a:xfrm>
                <a:off x="6048375" y="1647825"/>
                <a:ext cx="10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11111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Overall Fit</a:t>
                </a:r>
                <a:endParaRPr sz="1018" b="1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667" name="Google Shape;667;p22"/>
            <p:cNvGrpSpPr/>
            <p:nvPr/>
          </p:nvGrpSpPr>
          <p:grpSpPr>
            <a:xfrm>
              <a:off x="7281863" y="1423988"/>
              <a:ext cx="1104900" cy="533400"/>
              <a:chOff x="7281863" y="1423988"/>
              <a:chExt cx="1104900" cy="533400"/>
            </a:xfrm>
          </p:grpSpPr>
          <p:pic>
            <p:nvPicPr>
              <p:cNvPr id="668" name="Google Shape;668;p2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281863" y="1423988"/>
                <a:ext cx="11049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9" name="Google Shape;669;p22"/>
              <p:cNvSpPr txBox="1"/>
              <p:nvPr/>
            </p:nvSpPr>
            <p:spPr>
              <a:xfrm>
                <a:off x="7286625" y="1476375"/>
                <a:ext cx="1095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PRECISION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2"/>
              <p:cNvSpPr txBox="1"/>
              <p:nvPr/>
            </p:nvSpPr>
            <p:spPr>
              <a:xfrm>
                <a:off x="7286625" y="1647825"/>
                <a:ext cx="10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11111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Subscription</a:t>
                </a:r>
                <a:endParaRPr sz="1018" b="1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671" name="Google Shape;671;p22"/>
            <p:cNvGrpSpPr/>
            <p:nvPr/>
          </p:nvGrpSpPr>
          <p:grpSpPr>
            <a:xfrm>
              <a:off x="6043613" y="2043113"/>
              <a:ext cx="1104900" cy="533400"/>
              <a:chOff x="6043613" y="2043113"/>
              <a:chExt cx="1104900" cy="533400"/>
            </a:xfrm>
          </p:grpSpPr>
          <p:pic>
            <p:nvPicPr>
              <p:cNvPr id="672" name="Google Shape;672;p2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043613" y="2043113"/>
                <a:ext cx="11049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3" name="Google Shape;673;p22"/>
              <p:cNvSpPr txBox="1"/>
              <p:nvPr/>
            </p:nvSpPr>
            <p:spPr>
              <a:xfrm>
                <a:off x="6048375" y="2095500"/>
                <a:ext cx="1095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RECALL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2"/>
              <p:cNvSpPr txBox="1"/>
              <p:nvPr/>
            </p:nvSpPr>
            <p:spPr>
              <a:xfrm>
                <a:off x="6048375" y="2266950"/>
                <a:ext cx="10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11111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Sensitivity</a:t>
                </a:r>
                <a:endParaRPr sz="1018" b="1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675" name="Google Shape;675;p22"/>
            <p:cNvGrpSpPr/>
            <p:nvPr/>
          </p:nvGrpSpPr>
          <p:grpSpPr>
            <a:xfrm>
              <a:off x="7281863" y="2043113"/>
              <a:ext cx="1104900" cy="533400"/>
              <a:chOff x="7281863" y="2043113"/>
              <a:chExt cx="1104900" cy="533400"/>
            </a:xfrm>
          </p:grpSpPr>
          <p:pic>
            <p:nvPicPr>
              <p:cNvPr id="676" name="Google Shape;676;p2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281863" y="2043113"/>
                <a:ext cx="11049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7" name="Google Shape;677;p22"/>
              <p:cNvSpPr txBox="1"/>
              <p:nvPr/>
            </p:nvSpPr>
            <p:spPr>
              <a:xfrm>
                <a:off x="7286625" y="2095500"/>
                <a:ext cx="1095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F1 SCORE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2"/>
              <p:cNvSpPr txBox="1"/>
              <p:nvPr/>
            </p:nvSpPr>
            <p:spPr>
              <a:xfrm>
                <a:off x="7286625" y="2266950"/>
                <a:ext cx="1095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11111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Harmonic Mean</a:t>
                </a:r>
                <a:endParaRPr sz="1018" b="1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679" name="Google Shape;679;p22"/>
            <p:cNvGrpSpPr/>
            <p:nvPr/>
          </p:nvGrpSpPr>
          <p:grpSpPr>
            <a:xfrm>
              <a:off x="6043613" y="2662238"/>
              <a:ext cx="2343300" cy="533400"/>
              <a:chOff x="6043613" y="2662238"/>
              <a:chExt cx="2343300" cy="533400"/>
            </a:xfrm>
          </p:grpSpPr>
          <p:pic>
            <p:nvPicPr>
              <p:cNvPr id="680" name="Google Shape;680;p22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043613" y="2662238"/>
                <a:ext cx="23433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22"/>
              <p:cNvSpPr txBox="1"/>
              <p:nvPr/>
            </p:nvSpPr>
            <p:spPr>
              <a:xfrm>
                <a:off x="6048375" y="2714625"/>
                <a:ext cx="2333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ROC-AUC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2"/>
              <p:cNvSpPr txBox="1"/>
              <p:nvPr/>
            </p:nvSpPr>
            <p:spPr>
              <a:xfrm>
                <a:off x="6048375" y="2886075"/>
                <a:ext cx="23337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8" b="1">
                    <a:solidFill>
                      <a:srgbClr val="11111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Discriminative Power</a:t>
                </a:r>
                <a:endParaRPr sz="1018" b="1">
                  <a:solidFill>
                    <a:srgbClr val="11111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683" name="Google Shape;683;p22"/>
            <p:cNvSpPr txBox="1"/>
            <p:nvPr/>
          </p:nvSpPr>
          <p:spPr>
            <a:xfrm>
              <a:off x="6048375" y="3257550"/>
              <a:ext cx="2333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Comprehensive metrics ensure robust evaluation.</a:t>
              </a:r>
              <a:endParaRPr sz="7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22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pic>
          <p:nvPicPr>
            <p:cNvPr id="685" name="Google Shape;685;p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1500" y="4333875"/>
              <a:ext cx="8001000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6" name="Google Shape;686;p2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14375" y="4429125"/>
              <a:ext cx="381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22"/>
            <p:cNvSpPr txBox="1"/>
            <p:nvPr/>
          </p:nvSpPr>
          <p:spPr>
            <a:xfrm>
              <a:off x="904875" y="4333875"/>
              <a:ext cx="74772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MODEL SELECTION STRATEGY</a:t>
              </a:r>
              <a:endParaRPr sz="80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"Multiple Machine Learning models were trained and evaluated to identify the best-performing solution for customer subscription prediction."</a:t>
              </a:r>
              <a:endParaRPr sz="95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3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3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rPr>
              <a:t>FINANCIAL ANALYTICS</a:t>
            </a:r>
            <a:endParaRPr sz="740" b="1">
              <a:solidFill>
                <a:srgbClr val="0F6B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23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1: Logistic Regression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98" name="Google Shape;698;p23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99" name="Google Shape;699;p23"/>
          <p:cNvGrpSpPr/>
          <p:nvPr/>
        </p:nvGrpSpPr>
        <p:grpSpPr>
          <a:xfrm>
            <a:off x="571500" y="1095375"/>
            <a:ext cx="3429000" cy="3095700"/>
            <a:chOff x="0" y="0"/>
            <a:chExt cx="3429000" cy="3095700"/>
          </a:xfrm>
        </p:grpSpPr>
        <p:sp>
          <p:nvSpPr>
            <p:cNvPr id="700" name="Google Shape;700;p23"/>
            <p:cNvSpPr/>
            <p:nvPr/>
          </p:nvSpPr>
          <p:spPr>
            <a:xfrm>
              <a:off x="0" y="0"/>
              <a:ext cx="3429000" cy="3095700"/>
            </a:xfrm>
            <a:prstGeom prst="roundRect">
              <a:avLst>
                <a:gd name="adj" fmla="val 2461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0" y="0"/>
              <a:ext cx="3429000" cy="285900"/>
            </a:xfrm>
            <a:prstGeom prst="roundRect">
              <a:avLst>
                <a:gd name="adj" fmla="val 26666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0" y="190500"/>
              <a:ext cx="34290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3"/>
            <p:cNvSpPr txBox="1"/>
            <p:nvPr/>
          </p:nvSpPr>
          <p:spPr>
            <a:xfrm>
              <a:off x="142875" y="0"/>
              <a:ext cx="314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Binary Classification Process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704" name="Google Shape;704;p23"/>
            <p:cNvGrpSpPr/>
            <p:nvPr/>
          </p:nvGrpSpPr>
          <p:grpSpPr>
            <a:xfrm>
              <a:off x="238125" y="428625"/>
              <a:ext cx="1333500" cy="2143125"/>
              <a:chOff x="0" y="0"/>
              <a:chExt cx="1333500" cy="2143125"/>
            </a:xfrm>
          </p:grpSpPr>
          <p:sp>
            <p:nvSpPr>
              <p:cNvPr id="705" name="Google Shape;705;p23"/>
              <p:cNvSpPr/>
              <p:nvPr/>
            </p:nvSpPr>
            <p:spPr>
              <a:xfrm>
                <a:off x="0" y="0"/>
                <a:ext cx="1333500" cy="324000"/>
              </a:xfrm>
              <a:prstGeom prst="roundRect">
                <a:avLst>
                  <a:gd name="adj" fmla="val 11764"/>
                </a:avLst>
              </a:prstGeom>
              <a:solidFill>
                <a:srgbClr val="F9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3"/>
              <p:cNvSpPr txBox="1"/>
              <p:nvPr/>
            </p:nvSpPr>
            <p:spPr>
              <a:xfrm>
                <a:off x="95250" y="0"/>
                <a:ext cx="1143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48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 Data</a:t>
                </a:r>
                <a:r>
                  <a:rPr lang="en-GB" sz="694" b="0">
                    <a:solidFill>
                      <a:srgbClr val="33333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Demographics &amp; History</a:t>
                </a:r>
                <a:endParaRPr sz="694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pic>
            <p:nvPicPr>
              <p:cNvPr id="707" name="Google Shape;707;p2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95350" y="323850"/>
                <a:ext cx="192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8" name="Google Shape;708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6300" y="4476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09" name="Google Shape;709;p23"/>
              <p:cNvGrpSpPr/>
              <p:nvPr/>
            </p:nvGrpSpPr>
            <p:grpSpPr>
              <a:xfrm>
                <a:off x="0" y="523875"/>
                <a:ext cx="1333500" cy="324000"/>
                <a:chOff x="0" y="0"/>
                <a:chExt cx="1333500" cy="324000"/>
              </a:xfrm>
            </p:grpSpPr>
            <p:sp>
              <p:nvSpPr>
                <p:cNvPr id="710" name="Google Shape;710;p23"/>
                <p:cNvSpPr/>
                <p:nvPr/>
              </p:nvSpPr>
              <p:spPr>
                <a:xfrm>
                  <a:off x="0" y="0"/>
                  <a:ext cx="1333500" cy="3240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9F8F6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23"/>
                <p:cNvSpPr txBox="1"/>
                <p:nvPr/>
              </p:nvSpPr>
              <p:spPr>
                <a:xfrm>
                  <a:off x="95250" y="0"/>
                  <a:ext cx="11430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48" b="1" dirty="0">
                      <a:solidFill>
                        <a:srgbClr val="D4AF3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Logistic </a:t>
                  </a:r>
                  <a:r>
                    <a:rPr lang="en-GB" sz="648" b="1" dirty="0" err="1">
                      <a:solidFill>
                        <a:srgbClr val="D4AF3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Model</a:t>
                  </a:r>
                  <a:r>
                    <a:rPr lang="en-GB" sz="694" b="0" dirty="0" err="1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Sigmoid</a:t>
                  </a:r>
                  <a:r>
                    <a:rPr lang="en-GB" sz="694" b="0" dirty="0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 Fit</a:t>
                  </a:r>
                  <a:endParaRPr sz="694" b="0" dirty="0">
                    <a:solidFill>
                      <a:srgbClr val="333333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pic>
            <p:nvPicPr>
              <p:cNvPr id="712" name="Google Shape;712;p2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95350" y="847725"/>
                <a:ext cx="192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3" name="Google Shape;713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6300" y="971550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14" name="Google Shape;714;p23"/>
              <p:cNvGrpSpPr/>
              <p:nvPr/>
            </p:nvGrpSpPr>
            <p:grpSpPr>
              <a:xfrm>
                <a:off x="0" y="1047750"/>
                <a:ext cx="1333500" cy="324000"/>
                <a:chOff x="0" y="0"/>
                <a:chExt cx="1333500" cy="324000"/>
              </a:xfrm>
            </p:grpSpPr>
            <p:sp>
              <p:nvSpPr>
                <p:cNvPr id="715" name="Google Shape;715;p23"/>
                <p:cNvSpPr/>
                <p:nvPr/>
              </p:nvSpPr>
              <p:spPr>
                <a:xfrm>
                  <a:off x="0" y="0"/>
                  <a:ext cx="1333500" cy="3240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9F8F6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23"/>
                <p:cNvSpPr txBox="1"/>
                <p:nvPr/>
              </p:nvSpPr>
              <p:spPr>
                <a:xfrm>
                  <a:off x="95250" y="0"/>
                  <a:ext cx="11430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48" b="1">
                      <a:solidFill>
                        <a:srgbClr val="0F6B4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Probability Score</a:t>
                  </a:r>
                  <a:r>
                    <a:rPr lang="en-GB" sz="694" b="0">
                      <a:solidFill>
                        <a:srgbClr val="333333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Value (0 to 1)</a:t>
                  </a:r>
                  <a:endParaRPr sz="694" b="0">
                    <a:solidFill>
                      <a:srgbClr val="333333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pic>
            <p:nvPicPr>
              <p:cNvPr id="717" name="Google Shape;717;p2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95350" y="1371600"/>
                <a:ext cx="192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8" name="Google Shape;718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6300" y="149542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19" name="Google Shape;719;p23"/>
              <p:cNvGrpSpPr/>
              <p:nvPr/>
            </p:nvGrpSpPr>
            <p:grpSpPr>
              <a:xfrm>
                <a:off x="0" y="1571625"/>
                <a:ext cx="1333500" cy="571500"/>
                <a:chOff x="0" y="0"/>
                <a:chExt cx="1333500" cy="571500"/>
              </a:xfrm>
            </p:grpSpPr>
            <p:sp>
              <p:nvSpPr>
                <p:cNvPr id="720" name="Google Shape;720;p23"/>
                <p:cNvSpPr/>
                <p:nvPr/>
              </p:nvSpPr>
              <p:spPr>
                <a:xfrm>
                  <a:off x="0" y="0"/>
                  <a:ext cx="1333500" cy="571500"/>
                </a:xfrm>
                <a:prstGeom prst="roundRect">
                  <a:avLst>
                    <a:gd name="adj" fmla="val 6666"/>
                  </a:avLst>
                </a:prstGeom>
                <a:solidFill>
                  <a:srgbClr val="0F6B4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721;p23"/>
                <p:cNvSpPr txBox="1"/>
                <p:nvPr/>
              </p:nvSpPr>
              <p:spPr>
                <a:xfrm>
                  <a:off x="47625" y="47625"/>
                  <a:ext cx="12384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48" b="1">
                      <a:solidFill>
                        <a:srgbClr val="D4AF3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Prediction</a:t>
                  </a:r>
                  <a:r>
                    <a:rPr lang="en-GB" sz="694" b="0">
                      <a:solidFill>
                        <a:srgbClr val="FFFFFF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✓ Subscribe</a:t>
                  </a:r>
                  <a:br>
                    <a:rPr lang="en-GB" sz="694" b="0">
                      <a:solidFill>
                        <a:srgbClr val="FFFFFF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</a:br>
                  <a:r>
                    <a:rPr lang="en-GB" sz="694" b="0">
                      <a:solidFill>
                        <a:srgbClr val="FFFFFF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✗ Not Subscribe</a:t>
                  </a:r>
                  <a:endParaRPr sz="694" b="0">
                    <a:solidFill>
                      <a:srgbClr val="FFFFFF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  <p:grpSp>
          <p:nvGrpSpPr>
            <p:cNvPr id="722" name="Google Shape;722;p23"/>
            <p:cNvGrpSpPr/>
            <p:nvPr/>
          </p:nvGrpSpPr>
          <p:grpSpPr>
            <a:xfrm>
              <a:off x="1857375" y="523875"/>
              <a:ext cx="1333500" cy="2047800"/>
              <a:chOff x="0" y="0"/>
              <a:chExt cx="1333500" cy="2047800"/>
            </a:xfrm>
          </p:grpSpPr>
          <p:sp>
            <p:nvSpPr>
              <p:cNvPr id="723" name="Google Shape;723;p23"/>
              <p:cNvSpPr/>
              <p:nvPr/>
            </p:nvSpPr>
            <p:spPr>
              <a:xfrm>
                <a:off x="0" y="0"/>
                <a:ext cx="1333500" cy="2047800"/>
              </a:xfrm>
              <a:prstGeom prst="roundRect">
                <a:avLst>
                  <a:gd name="adj" fmla="val 4285"/>
                </a:avLst>
              </a:prstGeom>
              <a:solidFill>
                <a:srgbClr val="F9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4" name="Google Shape;724;p23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90500" y="514350"/>
                <a:ext cx="952500" cy="971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5" name="Google Shape;725;p23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90500" y="995363"/>
                <a:ext cx="9336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6" name="Google Shape;726;p23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61988" y="476250"/>
                <a:ext cx="96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7" name="Google Shape;727;p23"/>
              <p:cNvSpPr txBox="1"/>
              <p:nvPr/>
            </p:nvSpPr>
            <p:spPr>
              <a:xfrm>
                <a:off x="114300" y="499110"/>
                <a:ext cx="1236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25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1.0</a:t>
                </a:r>
                <a:endParaRPr sz="52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23"/>
              <p:cNvSpPr txBox="1"/>
              <p:nvPr/>
            </p:nvSpPr>
            <p:spPr>
              <a:xfrm>
                <a:off x="114300" y="1451610"/>
                <a:ext cx="1236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25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0.0</a:t>
                </a:r>
                <a:endParaRPr sz="525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23"/>
              <p:cNvSpPr txBox="1"/>
              <p:nvPr/>
            </p:nvSpPr>
            <p:spPr>
              <a:xfrm>
                <a:off x="695325" y="922020"/>
                <a:ext cx="5739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88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Threshold (0.5)</a:t>
                </a:r>
                <a:endParaRPr sz="488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23"/>
              <p:cNvSpPr txBox="1"/>
              <p:nvPr/>
            </p:nvSpPr>
            <p:spPr>
              <a:xfrm>
                <a:off x="95250" y="1571625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94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Sigmoid Curve</a:t>
                </a:r>
                <a:br>
                  <a:rPr lang="en-GB" sz="648" b="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n-GB" sz="648" b="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Converts probability into binary classification.</a:t>
                </a:r>
                <a:endParaRPr sz="648" b="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31" name="Google Shape;731;p23"/>
          <p:cNvGrpSpPr/>
          <p:nvPr/>
        </p:nvGrpSpPr>
        <p:grpSpPr>
          <a:xfrm>
            <a:off x="4191000" y="1095375"/>
            <a:ext cx="4381500" cy="2000175"/>
            <a:chOff x="0" y="0"/>
            <a:chExt cx="4381500" cy="2000175"/>
          </a:xfrm>
        </p:grpSpPr>
        <p:grpSp>
          <p:nvGrpSpPr>
            <p:cNvPr id="732" name="Google Shape;732;p23"/>
            <p:cNvGrpSpPr/>
            <p:nvPr/>
          </p:nvGrpSpPr>
          <p:grpSpPr>
            <a:xfrm>
              <a:off x="0" y="0"/>
              <a:ext cx="2095500" cy="1066800"/>
              <a:chOff x="0" y="0"/>
              <a:chExt cx="2095500" cy="1066800"/>
            </a:xfrm>
          </p:grpSpPr>
          <p:sp>
            <p:nvSpPr>
              <p:cNvPr id="733" name="Google Shape;733;p23"/>
              <p:cNvSpPr/>
              <p:nvPr/>
            </p:nvSpPr>
            <p:spPr>
              <a:xfrm>
                <a:off x="0" y="0"/>
                <a:ext cx="2095500" cy="1066800"/>
              </a:xfrm>
              <a:prstGeom prst="roundRect">
                <a:avLst>
                  <a:gd name="adj" fmla="val 714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3"/>
              <p:cNvSpPr/>
              <p:nvPr/>
            </p:nvSpPr>
            <p:spPr>
              <a:xfrm>
                <a:off x="0" y="0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3"/>
              <p:cNvSpPr/>
              <p:nvPr/>
            </p:nvSpPr>
            <p:spPr>
              <a:xfrm>
                <a:off x="0" y="171450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3"/>
              <p:cNvSpPr txBox="1"/>
              <p:nvPr/>
            </p:nvSpPr>
            <p:spPr>
              <a:xfrm>
                <a:off x="114300" y="0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Why Logistic Regression?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37" name="Google Shape;737;p23"/>
              <p:cNvSpPr txBox="1"/>
              <p:nvPr/>
            </p:nvSpPr>
            <p:spPr>
              <a:xfrm>
                <a:off x="114300" y="342900"/>
                <a:ext cx="18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95250" marR="0" lvl="0" indent="-9525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Simple and highly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interpretable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95250" marR="0" lvl="0" indent="-9525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Excellent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baseline model</a:t>
                </a: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for projects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95250" marR="0" lvl="0" indent="-95250" algn="l" rtl="0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Mathematically ideal for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binary targets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38" name="Google Shape;738;p23"/>
            <p:cNvGrpSpPr/>
            <p:nvPr/>
          </p:nvGrpSpPr>
          <p:grpSpPr>
            <a:xfrm>
              <a:off x="2286000" y="0"/>
              <a:ext cx="2095500" cy="1066800"/>
              <a:chOff x="0" y="0"/>
              <a:chExt cx="2095500" cy="1066800"/>
            </a:xfrm>
          </p:grpSpPr>
          <p:sp>
            <p:nvSpPr>
              <p:cNvPr id="739" name="Google Shape;739;p23"/>
              <p:cNvSpPr/>
              <p:nvPr/>
            </p:nvSpPr>
            <p:spPr>
              <a:xfrm>
                <a:off x="0" y="0"/>
                <a:ext cx="2095500" cy="1066800"/>
              </a:xfrm>
              <a:prstGeom prst="roundRect">
                <a:avLst>
                  <a:gd name="adj" fmla="val 714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3"/>
              <p:cNvSpPr/>
              <p:nvPr/>
            </p:nvSpPr>
            <p:spPr>
              <a:xfrm>
                <a:off x="0" y="0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3"/>
              <p:cNvSpPr/>
              <p:nvPr/>
            </p:nvSpPr>
            <p:spPr>
              <a:xfrm>
                <a:off x="0" y="171450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3"/>
              <p:cNvSpPr txBox="1"/>
              <p:nvPr/>
            </p:nvSpPr>
            <p:spPr>
              <a:xfrm>
                <a:off x="114300" y="0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Working Principle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3" name="Google Shape;743;p23"/>
              <p:cNvSpPr txBox="1"/>
              <p:nvPr/>
            </p:nvSpPr>
            <p:spPr>
              <a:xfrm>
                <a:off x="114300" y="342900"/>
                <a:ext cx="18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95250" marR="0" lvl="0" indent="-9525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Calculates probabilities via the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Sigmoid Function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95250" marR="0" lvl="0" indent="-9525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Maps real values to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[0, 1]</a:t>
                </a: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interval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95250" marR="0" lvl="0" indent="-95250" algn="l" rtl="0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Decides binary outcome using threshold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44" name="Google Shape;744;p23"/>
            <p:cNvGrpSpPr/>
            <p:nvPr/>
          </p:nvGrpSpPr>
          <p:grpSpPr>
            <a:xfrm>
              <a:off x="0" y="1209675"/>
              <a:ext cx="2095500" cy="790500"/>
              <a:chOff x="0" y="0"/>
              <a:chExt cx="2095500" cy="790500"/>
            </a:xfrm>
          </p:grpSpPr>
          <p:sp>
            <p:nvSpPr>
              <p:cNvPr id="745" name="Google Shape;745;p23"/>
              <p:cNvSpPr/>
              <p:nvPr/>
            </p:nvSpPr>
            <p:spPr>
              <a:xfrm>
                <a:off x="0" y="0"/>
                <a:ext cx="2095500" cy="790500"/>
              </a:xfrm>
              <a:prstGeom prst="roundRect">
                <a:avLst>
                  <a:gd name="adj" fmla="val 9638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3"/>
              <p:cNvSpPr/>
              <p:nvPr/>
            </p:nvSpPr>
            <p:spPr>
              <a:xfrm>
                <a:off x="0" y="0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3"/>
              <p:cNvSpPr/>
              <p:nvPr/>
            </p:nvSpPr>
            <p:spPr>
              <a:xfrm>
                <a:off x="0" y="171450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3"/>
              <p:cNvSpPr txBox="1"/>
              <p:nvPr/>
            </p:nvSpPr>
            <p:spPr>
              <a:xfrm>
                <a:off x="114300" y="0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Key Advantages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49" name="Google Shape;749;p23"/>
              <p:cNvSpPr txBox="1"/>
              <p:nvPr/>
            </p:nvSpPr>
            <p:spPr>
              <a:xfrm>
                <a:off x="114300" y="342900"/>
                <a:ext cx="1866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95250" marR="0" lvl="0" indent="-9525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Extremely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fast training</a:t>
                </a: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times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95250" marR="0" lvl="0" indent="-95250" algn="l" rtl="0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• Performs well with </a:t>
                </a:r>
                <a:r>
                  <a:rPr lang="en-GB" sz="74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linearly separable</a:t>
                </a:r>
                <a:r>
                  <a:rPr lang="en-GB" sz="74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 data</a:t>
                </a:r>
                <a:endParaRPr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50" name="Google Shape;750;p23"/>
            <p:cNvGrpSpPr/>
            <p:nvPr/>
          </p:nvGrpSpPr>
          <p:grpSpPr>
            <a:xfrm>
              <a:off x="2286000" y="1209675"/>
              <a:ext cx="2095500" cy="790500"/>
              <a:chOff x="0" y="0"/>
              <a:chExt cx="2095500" cy="790500"/>
            </a:xfrm>
          </p:grpSpPr>
          <p:sp>
            <p:nvSpPr>
              <p:cNvPr id="751" name="Google Shape;751;p23"/>
              <p:cNvSpPr/>
              <p:nvPr/>
            </p:nvSpPr>
            <p:spPr>
              <a:xfrm>
                <a:off x="0" y="0"/>
                <a:ext cx="2095500" cy="790500"/>
              </a:xfrm>
              <a:prstGeom prst="roundRect">
                <a:avLst>
                  <a:gd name="adj" fmla="val 9638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0" y="0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3"/>
              <p:cNvSpPr/>
              <p:nvPr/>
            </p:nvSpPr>
            <p:spPr>
              <a:xfrm>
                <a:off x="0" y="171450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3"/>
              <p:cNvSpPr txBox="1"/>
              <p:nvPr/>
            </p:nvSpPr>
            <p:spPr>
              <a:xfrm>
                <a:off x="114300" y="0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Project Performance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755" name="Google Shape;755;p23"/>
              <p:cNvGrpSpPr/>
              <p:nvPr/>
            </p:nvGrpSpPr>
            <p:grpSpPr>
              <a:xfrm>
                <a:off x="95250" y="342900"/>
                <a:ext cx="1904925" cy="381000"/>
                <a:chOff x="0" y="0"/>
                <a:chExt cx="1904925" cy="381000"/>
              </a:xfrm>
            </p:grpSpPr>
            <p:sp>
              <p:nvSpPr>
                <p:cNvPr id="756" name="Google Shape;756;p23"/>
                <p:cNvSpPr txBox="1"/>
                <p:nvPr/>
              </p:nvSpPr>
              <p:spPr>
                <a:xfrm>
                  <a:off x="0" y="0"/>
                  <a:ext cx="5238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90.2%</a:t>
                  </a:r>
                  <a:br>
                    <a:rPr lang="en-GB"/>
                  </a:br>
                  <a:r>
                    <a:rPr lang="en-GB" sz="648" b="0">
                      <a:solidFill>
                        <a:srgbClr val="55555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Accuracy</a:t>
                  </a:r>
                  <a:endParaRPr/>
                </a:p>
              </p:txBody>
            </p:sp>
            <p:sp>
              <p:nvSpPr>
                <p:cNvPr id="757" name="Google Shape;757;p23"/>
                <p:cNvSpPr txBox="1"/>
                <p:nvPr/>
              </p:nvSpPr>
              <p:spPr>
                <a:xfrm>
                  <a:off x="571500" y="0"/>
                  <a:ext cx="571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 b="1">
                      <a:solidFill>
                        <a:srgbClr val="D4AF37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80.2%</a:t>
                  </a:r>
                  <a:br>
                    <a:rPr lang="en-GB"/>
                  </a:br>
                  <a:r>
                    <a:rPr lang="en-GB" sz="648" b="0">
                      <a:solidFill>
                        <a:srgbClr val="55555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ROC-AUC</a:t>
                  </a:r>
                  <a:endParaRPr/>
                </a:p>
              </p:txBody>
            </p:sp>
            <p:sp>
              <p:nvSpPr>
                <p:cNvPr id="758" name="Google Shape;758;p23"/>
                <p:cNvSpPr txBox="1"/>
                <p:nvPr/>
              </p:nvSpPr>
              <p:spPr>
                <a:xfrm>
                  <a:off x="1190625" y="0"/>
                  <a:ext cx="7143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34.0%</a:t>
                  </a:r>
                  <a:br>
                    <a:rPr lang="en-GB"/>
                  </a:br>
                  <a:r>
                    <a:rPr lang="en-GB" sz="648" b="0">
                      <a:solidFill>
                        <a:srgbClr val="55555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F1 (P:69%|R:23%)</a:t>
                  </a:r>
                  <a:endParaRPr/>
                </a:p>
              </p:txBody>
            </p:sp>
          </p:grpSp>
        </p:grpSp>
      </p:grpSp>
      <p:grpSp>
        <p:nvGrpSpPr>
          <p:cNvPr id="759" name="Google Shape;759;p23"/>
          <p:cNvGrpSpPr/>
          <p:nvPr/>
        </p:nvGrpSpPr>
        <p:grpSpPr>
          <a:xfrm>
            <a:off x="4191000" y="3209925"/>
            <a:ext cx="4381500" cy="981000"/>
            <a:chOff x="0" y="0"/>
            <a:chExt cx="4381500" cy="981000"/>
          </a:xfrm>
        </p:grpSpPr>
        <p:sp>
          <p:nvSpPr>
            <p:cNvPr id="760" name="Google Shape;760;p23"/>
            <p:cNvSpPr/>
            <p:nvPr/>
          </p:nvSpPr>
          <p:spPr>
            <a:xfrm>
              <a:off x="0" y="0"/>
              <a:ext cx="4381500" cy="981000"/>
            </a:xfrm>
            <a:prstGeom prst="roundRect">
              <a:avLst>
                <a:gd name="adj" fmla="val 7766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0" y="0"/>
              <a:ext cx="4381500" cy="266700"/>
            </a:xfrm>
            <a:prstGeom prst="roundRect">
              <a:avLst>
                <a:gd name="adj" fmla="val 28571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0" y="171450"/>
              <a:ext cx="43815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3"/>
            <p:cNvSpPr txBox="1"/>
            <p:nvPr/>
          </p:nvSpPr>
          <p:spPr>
            <a:xfrm>
              <a:off x="114300" y="0"/>
              <a:ext cx="4152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Baseline Model Performance Context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64" name="Google Shape;764;p23"/>
            <p:cNvSpPr txBox="1"/>
            <p:nvPr/>
          </p:nvSpPr>
          <p:spPr>
            <a:xfrm>
              <a:off x="114300" y="342900"/>
              <a:ext cx="4152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Logistic Regression achieved a high overall accuracy of </a:t>
              </a: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90.16%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establishing a highly reliable and stable baseline. Due to the imbalanced class distribution, advanced ensemble techniques will focus on optimizing the F1-Score (</a:t>
              </a: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34.01%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) and Recall (</a:t>
              </a: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22.52%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ROC-AUC Score: 80.18%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proves strong overall discriminative classification power.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5" name="Google Shape;765;p23"/>
          <p:cNvGrpSpPr/>
          <p:nvPr/>
        </p:nvGrpSpPr>
        <p:grpSpPr>
          <a:xfrm>
            <a:off x="571500" y="4333875"/>
            <a:ext cx="8001000" cy="533400"/>
            <a:chOff x="0" y="0"/>
            <a:chExt cx="8001000" cy="533400"/>
          </a:xfrm>
        </p:grpSpPr>
        <p:sp>
          <p:nvSpPr>
            <p:cNvPr id="766" name="Google Shape;766;p23"/>
            <p:cNvSpPr/>
            <p:nvPr/>
          </p:nvSpPr>
          <p:spPr>
            <a:xfrm>
              <a:off x="0" y="0"/>
              <a:ext cx="8001000" cy="533400"/>
            </a:xfrm>
            <a:prstGeom prst="roundRect">
              <a:avLst>
                <a:gd name="adj" fmla="val 10714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142875" y="95250"/>
              <a:ext cx="38100" cy="3429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3"/>
            <p:cNvSpPr txBox="1"/>
            <p:nvPr/>
          </p:nvSpPr>
          <p:spPr>
            <a:xfrm>
              <a:off x="285750" y="0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MODEL STATUS &amp; STRATEGY</a:t>
              </a:r>
              <a:r>
                <a:rPr lang="en-GB" sz="95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"Logistic Regression served as the baseline model for comparing more advanced Machine Learning algorithms."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4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4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6" name="Google Shape;7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4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4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2: Decision Tree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79" name="Google Shape;779;p24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80" name="Google Shape;78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38" y="1090613"/>
            <a:ext cx="3438600" cy="31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095375"/>
            <a:ext cx="34290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4"/>
          <p:cNvSpPr txBox="1"/>
          <p:nvPr/>
        </p:nvSpPr>
        <p:spPr>
          <a:xfrm>
            <a:off x="571500" y="10953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Decision Flow Topology</a:t>
            </a:r>
            <a:endParaRPr sz="950" b="1" dirty="0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83" name="Google Shape;783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2113" y="1471613"/>
            <a:ext cx="12477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4"/>
          <p:cNvSpPr txBox="1"/>
          <p:nvPr/>
        </p:nvSpPr>
        <p:spPr>
          <a:xfrm>
            <a:off x="1666875" y="1476375"/>
            <a:ext cx="1238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Customer Info</a:t>
            </a:r>
            <a:endParaRPr sz="750" b="1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5" name="Google Shape;785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81238" y="1704975"/>
            <a:ext cx="9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57363" y="1947863"/>
            <a:ext cx="1057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4"/>
          <p:cNvSpPr txBox="1"/>
          <p:nvPr/>
        </p:nvSpPr>
        <p:spPr>
          <a:xfrm>
            <a:off x="1762125" y="1952625"/>
            <a:ext cx="1047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 &gt; 35?</a:t>
            </a:r>
            <a:endParaRPr sz="750" b="1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8" name="Google Shape;788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28738" y="2176463"/>
            <a:ext cx="957300" cy="2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6000" y="2176463"/>
            <a:ext cx="957300" cy="2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4"/>
          <p:cNvSpPr txBox="1"/>
          <p:nvPr/>
        </p:nvSpPr>
        <p:spPr>
          <a:xfrm>
            <a:off x="1333500" y="221932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4"/>
          <p:cNvSpPr txBox="1"/>
          <p:nvPr/>
        </p:nvSpPr>
        <p:spPr>
          <a:xfrm>
            <a:off x="2857500" y="221932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2" name="Google Shape;792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863" y="2424113"/>
            <a:ext cx="1057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4"/>
          <p:cNvSpPr txBox="1"/>
          <p:nvPr/>
        </p:nvSpPr>
        <p:spPr>
          <a:xfrm>
            <a:off x="809625" y="2428875"/>
            <a:ext cx="1047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Balance &gt; 5000?</a:t>
            </a:r>
            <a:endParaRPr sz="750" b="1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4" name="Google Shape;794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09863" y="2424113"/>
            <a:ext cx="1057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4"/>
          <p:cNvSpPr txBox="1"/>
          <p:nvPr/>
        </p:nvSpPr>
        <p:spPr>
          <a:xfrm>
            <a:off x="2714625" y="2428875"/>
            <a:ext cx="1047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Campaign &gt; 2?</a:t>
            </a:r>
            <a:endParaRPr sz="750" b="1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6" name="Google Shape;796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7738" y="2652713"/>
            <a:ext cx="385800" cy="2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33500" y="2652713"/>
            <a:ext cx="385800" cy="2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4"/>
          <p:cNvSpPr txBox="1"/>
          <p:nvPr/>
        </p:nvSpPr>
        <p:spPr>
          <a:xfrm>
            <a:off x="857250" y="269557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4"/>
          <p:cNvSpPr txBox="1"/>
          <p:nvPr/>
        </p:nvSpPr>
        <p:spPr>
          <a:xfrm>
            <a:off x="1428750" y="269557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788" y="2900363"/>
            <a:ext cx="7335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24"/>
          <p:cNvSpPr txBox="1"/>
          <p:nvPr/>
        </p:nvSpPr>
        <p:spPr>
          <a:xfrm>
            <a:off x="590550" y="2905125"/>
            <a:ext cx="723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Subscribe</a:t>
            </a:r>
            <a:endParaRPr sz="75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2" name="Google Shape;802;p2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7788" y="2900363"/>
            <a:ext cx="7335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4"/>
          <p:cNvSpPr txBox="1"/>
          <p:nvPr/>
        </p:nvSpPr>
        <p:spPr>
          <a:xfrm>
            <a:off x="1352550" y="2905125"/>
            <a:ext cx="723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Not Subscribe</a:t>
            </a:r>
            <a:endParaRPr sz="750" b="1">
              <a:solidFill>
                <a:srgbClr val="C5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52738" y="2652713"/>
            <a:ext cx="385800" cy="2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38500" y="2652713"/>
            <a:ext cx="385800" cy="2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24"/>
          <p:cNvSpPr txBox="1"/>
          <p:nvPr/>
        </p:nvSpPr>
        <p:spPr>
          <a:xfrm>
            <a:off x="2762250" y="269557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4"/>
          <p:cNvSpPr txBox="1"/>
          <p:nvPr/>
        </p:nvSpPr>
        <p:spPr>
          <a:xfrm>
            <a:off x="3333750" y="2695575"/>
            <a:ext cx="3810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650" b="1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" name="Google Shape;808;p2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490788" y="2900363"/>
            <a:ext cx="7335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4"/>
          <p:cNvSpPr txBox="1"/>
          <p:nvPr/>
        </p:nvSpPr>
        <p:spPr>
          <a:xfrm>
            <a:off x="2495550" y="2905125"/>
            <a:ext cx="723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Not Subscribe</a:t>
            </a:r>
            <a:endParaRPr sz="750" b="1">
              <a:solidFill>
                <a:srgbClr val="C5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52788" y="2900363"/>
            <a:ext cx="7335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4"/>
          <p:cNvSpPr txBox="1"/>
          <p:nvPr/>
        </p:nvSpPr>
        <p:spPr>
          <a:xfrm>
            <a:off x="3257550" y="2905125"/>
            <a:ext cx="723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Subscribe</a:t>
            </a:r>
            <a:endParaRPr sz="75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571500" y="3571875"/>
            <a:ext cx="3429000" cy="476400"/>
          </a:xfrm>
          <a:prstGeom prst="roundRect">
            <a:avLst>
              <a:gd name="adj" fmla="val 16000"/>
            </a:avLst>
          </a:prstGeom>
          <a:solidFill>
            <a:srgbClr val="FAF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4"/>
          <p:cNvSpPr txBox="1"/>
          <p:nvPr/>
        </p:nvSpPr>
        <p:spPr>
          <a:xfrm>
            <a:off x="714375" y="3571875"/>
            <a:ext cx="31434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Decision Path Rule Analysis:</a:t>
            </a: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Age and financial standing (Balance) emerge as the primary structural bifurcation drivers for customer subscription outcomes.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p2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86238" y="1090613"/>
            <a:ext cx="2105100" cy="13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4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91000" y="1095375"/>
            <a:ext cx="2095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4"/>
          <p:cNvSpPr txBox="1"/>
          <p:nvPr/>
        </p:nvSpPr>
        <p:spPr>
          <a:xfrm>
            <a:off x="4305300" y="1095375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Why Decision Tree?</a:t>
            </a:r>
            <a:endParaRPr sz="950" b="1" dirty="0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7" name="Google Shape;817;p24"/>
          <p:cNvSpPr txBox="1"/>
          <p:nvPr/>
        </p:nvSpPr>
        <p:spPr>
          <a:xfrm>
            <a:off x="4305300" y="1409700"/>
            <a:ext cx="1866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Easy to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and visualize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Learns decision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rules automatically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Captures complex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non-linear</a:t>
            </a: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patterns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2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72238" y="1090613"/>
            <a:ext cx="2105100" cy="13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4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77000" y="1095375"/>
            <a:ext cx="2095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24"/>
          <p:cNvSpPr txBox="1"/>
          <p:nvPr/>
        </p:nvSpPr>
        <p:spPr>
          <a:xfrm>
            <a:off x="6591300" y="1095375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Working Principle</a:t>
            </a:r>
            <a:endParaRPr sz="950" b="1" dirty="0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1" name="Google Shape;821;p24"/>
          <p:cNvSpPr txBox="1"/>
          <p:nvPr/>
        </p:nvSpPr>
        <p:spPr>
          <a:xfrm>
            <a:off x="6591300" y="1409700"/>
            <a:ext cx="1866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Splits data into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smaller groups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Selects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best feature</a:t>
            </a: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at each split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Recurs down to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final prediction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2" name="Google Shape;822;p2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86238" y="2547938"/>
            <a:ext cx="2105100" cy="13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24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91000" y="2552700"/>
            <a:ext cx="2095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24"/>
          <p:cNvSpPr txBox="1"/>
          <p:nvPr/>
        </p:nvSpPr>
        <p:spPr>
          <a:xfrm>
            <a:off x="4305300" y="25527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Key Advantages</a:t>
            </a:r>
            <a:endParaRPr sz="950" b="1" dirty="0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5" name="Google Shape;825;p24"/>
          <p:cNvSpPr txBox="1"/>
          <p:nvPr/>
        </p:nvSpPr>
        <p:spPr>
          <a:xfrm>
            <a:off x="4305300" y="2867025"/>
            <a:ext cx="1866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Remains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highly interpretable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Handles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mixed data types</a:t>
            </a: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directly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Requires </a:t>
            </a:r>
            <a:r>
              <a:rPr lang="en-GB" sz="75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no feature scaling</a:t>
            </a:r>
            <a:endParaRPr sz="7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72238" y="2547938"/>
            <a:ext cx="2105100" cy="13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24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77000" y="2552700"/>
            <a:ext cx="2095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24"/>
          <p:cNvSpPr txBox="1"/>
          <p:nvPr/>
        </p:nvSpPr>
        <p:spPr>
          <a:xfrm>
            <a:off x="6591300" y="25527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Project Performance</a:t>
            </a:r>
            <a:endParaRPr sz="950" b="1" dirty="0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829" name="Google Shape;829;p24"/>
          <p:cNvGrpSpPr/>
          <p:nvPr/>
        </p:nvGrpSpPr>
        <p:grpSpPr>
          <a:xfrm>
            <a:off x="6572250" y="2905125"/>
            <a:ext cx="1905000" cy="381000"/>
            <a:chOff x="6572250" y="2905125"/>
            <a:chExt cx="1905000" cy="381000"/>
          </a:xfrm>
        </p:grpSpPr>
        <p:sp>
          <p:nvSpPr>
            <p:cNvPr id="830" name="Google Shape;830;p24"/>
            <p:cNvSpPr txBox="1"/>
            <p:nvPr/>
          </p:nvSpPr>
          <p:spPr>
            <a:xfrm>
              <a:off x="6572250" y="29051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84.2%</a:t>
              </a:r>
              <a:b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GB" sz="65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31" name="Google Shape;831;p24"/>
            <p:cNvSpPr txBox="1"/>
            <p:nvPr/>
          </p:nvSpPr>
          <p:spPr>
            <a:xfrm>
              <a:off x="7239000" y="29051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rPr>
                <a:t>62.0%</a:t>
              </a:r>
              <a:br>
                <a:rPr lang="en-GB" sz="1050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GB" sz="65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ROC-AUC</a:t>
              </a:r>
              <a:endParaRPr sz="1050" b="1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32" name="Google Shape;832;p24"/>
            <p:cNvSpPr txBox="1"/>
            <p:nvPr/>
          </p:nvSpPr>
          <p:spPr>
            <a:xfrm>
              <a:off x="7905750" y="2905125"/>
              <a:ext cx="57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32.0%</a:t>
              </a:r>
              <a:br>
                <a:rPr lang="en-GB" sz="105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GB" sz="65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F1 Score</a:t>
              </a:r>
              <a:endParaRPr sz="10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cxnSp>
        <p:nvCxnSpPr>
          <p:cNvPr id="833" name="Google Shape;833;p24"/>
          <p:cNvCxnSpPr/>
          <p:nvPr/>
        </p:nvCxnSpPr>
        <p:spPr>
          <a:xfrm>
            <a:off x="6619875" y="3381375"/>
            <a:ext cx="180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4" name="Google Shape;834;p24"/>
          <p:cNvSpPr txBox="1"/>
          <p:nvPr/>
        </p:nvSpPr>
        <p:spPr>
          <a:xfrm>
            <a:off x="6572250" y="34480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31.1%</a:t>
            </a:r>
            <a:br>
              <a:rPr lang="en-GB" sz="9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50" b="1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5" name="Google Shape;835;p24"/>
          <p:cNvSpPr txBox="1"/>
          <p:nvPr/>
        </p:nvSpPr>
        <p:spPr>
          <a:xfrm>
            <a:off x="7620000" y="344805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  <a:t>33.0%</a:t>
            </a:r>
            <a:br>
              <a:rPr lang="en-GB" sz="95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65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50" b="1">
              <a:solidFill>
                <a:srgbClr val="0F6B4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36" name="Google Shape;836;p24"/>
          <p:cNvCxnSpPr/>
          <p:nvPr/>
        </p:nvCxnSpPr>
        <p:spPr>
          <a:xfrm>
            <a:off x="7572375" y="3476625"/>
            <a:ext cx="0" cy="2859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37" name="Google Shape;837;p24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71500" y="4333875"/>
            <a:ext cx="8001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24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14375" y="4429125"/>
            <a:ext cx="381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24"/>
          <p:cNvSpPr txBox="1"/>
          <p:nvPr/>
        </p:nvSpPr>
        <p:spPr>
          <a:xfrm>
            <a:off x="857250" y="4333875"/>
            <a:ext cx="752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MODEL EVALUATION REPORT</a:t>
            </a:r>
            <a:endParaRPr sz="740" b="1">
              <a:solidFill>
                <a:srgbClr val="D4AF3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"Decision Tree improved interpretability but showed lower generalization compared to ensemble models."</a:t>
            </a:r>
            <a:endParaRPr sz="950" i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5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25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5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5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80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5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3: Random Forest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50" name="Google Shape;850;p25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51" name="Google Shape;851;p25"/>
          <p:cNvGrpSpPr/>
          <p:nvPr/>
        </p:nvGrpSpPr>
        <p:grpSpPr>
          <a:xfrm>
            <a:off x="571500" y="1095375"/>
            <a:ext cx="3429000" cy="3095700"/>
            <a:chOff x="571500" y="1095375"/>
            <a:chExt cx="3429000" cy="3095700"/>
          </a:xfrm>
        </p:grpSpPr>
        <p:sp>
          <p:nvSpPr>
            <p:cNvPr id="852" name="Google Shape;852;p25"/>
            <p:cNvSpPr/>
            <p:nvPr/>
          </p:nvSpPr>
          <p:spPr>
            <a:xfrm>
              <a:off x="571500" y="1095375"/>
              <a:ext cx="3429000" cy="3095700"/>
            </a:xfrm>
            <a:prstGeom prst="roundRect">
              <a:avLst>
                <a:gd name="adj" fmla="val 2461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571500" y="1095375"/>
              <a:ext cx="3429000" cy="285900"/>
            </a:xfrm>
            <a:prstGeom prst="roundRect">
              <a:avLst>
                <a:gd name="adj" fmla="val 26666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571500" y="1285875"/>
              <a:ext cx="34290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5"/>
            <p:cNvSpPr txBox="1"/>
            <p:nvPr/>
          </p:nvSpPr>
          <p:spPr>
            <a:xfrm>
              <a:off x="714375" y="1095375"/>
              <a:ext cx="314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Ensemble Forest Architecture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856" name="Google Shape;856;p25"/>
            <p:cNvGrpSpPr/>
            <p:nvPr/>
          </p:nvGrpSpPr>
          <p:grpSpPr>
            <a:xfrm>
              <a:off x="619125" y="1476375"/>
              <a:ext cx="3333750" cy="2257575"/>
              <a:chOff x="619125" y="1476375"/>
              <a:chExt cx="3333750" cy="2257575"/>
            </a:xfrm>
          </p:grpSpPr>
          <p:sp>
            <p:nvSpPr>
              <p:cNvPr id="857" name="Google Shape;857;p25"/>
              <p:cNvSpPr/>
              <p:nvPr/>
            </p:nvSpPr>
            <p:spPr>
              <a:xfrm>
                <a:off x="1666875" y="1476375"/>
                <a:ext cx="12384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5"/>
              <p:cNvSpPr txBox="1"/>
              <p:nvPr/>
            </p:nvSpPr>
            <p:spPr>
              <a:xfrm>
                <a:off x="1666875" y="1476375"/>
                <a:ext cx="1238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Training Dataset</a:t>
                </a:r>
                <a:endParaRPr sz="70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Structured Banking Records</a:t>
                </a:r>
                <a:endParaRPr sz="60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59" name="Google Shape;859;p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1238" y="1781175"/>
                <a:ext cx="96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0" name="Google Shape;860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57425" y="192405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1" name="Google Shape;861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662113" y="1928813"/>
                <a:ext cx="12477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25"/>
              <p:cNvSpPr txBox="1"/>
              <p:nvPr/>
            </p:nvSpPr>
            <p:spPr>
              <a:xfrm>
                <a:off x="1666875" y="1933575"/>
                <a:ext cx="1238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Bootstrap Sampling</a:t>
                </a:r>
                <a:endParaRPr sz="70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Random Rows with Replacement</a:t>
                </a:r>
                <a:endParaRPr sz="60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63" name="Google Shape;863;p2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04863" y="2238375"/>
                <a:ext cx="2962200" cy="152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4" name="Google Shape;864;p25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81238" y="2314575"/>
                <a:ext cx="96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5" name="Google Shape;865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81050" y="240030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6" name="Google Shape;866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519238" y="240030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7" name="Google Shape;867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57425" y="240030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995613" y="240030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9" name="Google Shape;869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733800" y="240030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70" name="Google Shape;870;p25"/>
              <p:cNvGrpSpPr/>
              <p:nvPr/>
            </p:nvGrpSpPr>
            <p:grpSpPr>
              <a:xfrm>
                <a:off x="619125" y="2390775"/>
                <a:ext cx="3333750" cy="381150"/>
                <a:chOff x="619125" y="2390775"/>
                <a:chExt cx="3333750" cy="381150"/>
              </a:xfrm>
            </p:grpSpPr>
            <p:sp>
              <p:nvSpPr>
                <p:cNvPr id="871" name="Google Shape;871;p25"/>
                <p:cNvSpPr/>
                <p:nvPr/>
              </p:nvSpPr>
              <p:spPr>
                <a:xfrm>
                  <a:off x="676275" y="2390775"/>
                  <a:ext cx="266700" cy="2667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3" name="Google Shape;873;p25"/>
                <p:cNvSpPr txBox="1"/>
                <p:nvPr/>
              </p:nvSpPr>
              <p:spPr>
                <a:xfrm>
                  <a:off x="619125" y="2676525"/>
                  <a:ext cx="381000" cy="9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Tree 1</a:t>
                  </a:r>
                  <a:endParaRPr sz="6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4" name="Google Shape;874;p25"/>
                <p:cNvSpPr/>
                <p:nvPr/>
              </p:nvSpPr>
              <p:spPr>
                <a:xfrm>
                  <a:off x="1414463" y="2390775"/>
                  <a:ext cx="266700" cy="2667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6" name="Google Shape;876;p25"/>
                <p:cNvSpPr txBox="1"/>
                <p:nvPr/>
              </p:nvSpPr>
              <p:spPr>
                <a:xfrm>
                  <a:off x="1357313" y="2676525"/>
                  <a:ext cx="381000" cy="9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Tree 2</a:t>
                  </a:r>
                  <a:endParaRPr sz="6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7" name="Google Shape;877;p25"/>
                <p:cNvSpPr/>
                <p:nvPr/>
              </p:nvSpPr>
              <p:spPr>
                <a:xfrm>
                  <a:off x="2152650" y="2390775"/>
                  <a:ext cx="266700" cy="2667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25"/>
                <p:cNvSpPr txBox="1"/>
                <p:nvPr/>
              </p:nvSpPr>
              <p:spPr>
                <a:xfrm>
                  <a:off x="2095500" y="2676525"/>
                  <a:ext cx="381000" cy="9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Tree 3</a:t>
                  </a:r>
                  <a:endParaRPr sz="6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0" name="Google Shape;880;p25"/>
                <p:cNvSpPr/>
                <p:nvPr/>
              </p:nvSpPr>
              <p:spPr>
                <a:xfrm>
                  <a:off x="2890838" y="2390775"/>
                  <a:ext cx="266700" cy="2667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25"/>
                <p:cNvSpPr txBox="1"/>
                <p:nvPr/>
              </p:nvSpPr>
              <p:spPr>
                <a:xfrm>
                  <a:off x="2833688" y="2676525"/>
                  <a:ext cx="381000" cy="9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Tree 4</a:t>
                  </a:r>
                  <a:endParaRPr sz="6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3" name="Google Shape;883;p25"/>
                <p:cNvSpPr/>
                <p:nvPr/>
              </p:nvSpPr>
              <p:spPr>
                <a:xfrm>
                  <a:off x="3629025" y="2390775"/>
                  <a:ext cx="266700" cy="26670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5"/>
                <p:cNvSpPr txBox="1"/>
                <p:nvPr/>
              </p:nvSpPr>
              <p:spPr>
                <a:xfrm>
                  <a:off x="3571875" y="2676525"/>
                  <a:ext cx="381000" cy="9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00" b="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Tree 5</a:t>
                  </a:r>
                  <a:endParaRPr sz="60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86" name="Google Shape;886;p25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04863" y="2790825"/>
                <a:ext cx="2962200" cy="152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7" name="Google Shape;887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57425" y="2952750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8" name="Google Shape;888;p2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662113" y="2957513"/>
                <a:ext cx="12477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9" name="Google Shape;889;p25"/>
              <p:cNvSpPr txBox="1"/>
              <p:nvPr/>
            </p:nvSpPr>
            <p:spPr>
              <a:xfrm>
                <a:off x="1666875" y="2962275"/>
                <a:ext cx="1238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0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Majority Voting</a:t>
                </a:r>
                <a:endParaRPr sz="70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Aggregate Class Predictions</a:t>
                </a:r>
                <a:endParaRPr sz="600" b="0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90" name="Google Shape;890;p25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281238" y="3267075"/>
                <a:ext cx="9600" cy="123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1" name="Google Shape;891;p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57425" y="3400425"/>
                <a:ext cx="573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2" name="Google Shape;892;p25"/>
              <p:cNvSpPr/>
              <p:nvPr/>
            </p:nvSpPr>
            <p:spPr>
              <a:xfrm>
                <a:off x="1666875" y="3409950"/>
                <a:ext cx="1238400" cy="324000"/>
              </a:xfrm>
              <a:prstGeom prst="roundRect">
                <a:avLst>
                  <a:gd name="adj" fmla="val 11764"/>
                </a:avLst>
              </a:prstGeom>
              <a:solidFill>
                <a:srgbClr val="0F6B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25"/>
              <p:cNvSpPr txBox="1"/>
              <p:nvPr/>
            </p:nvSpPr>
            <p:spPr>
              <a:xfrm>
                <a:off x="1666875" y="3409950"/>
                <a:ext cx="12384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Final Prediction</a:t>
                </a:r>
                <a:endParaRPr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100"/>
                  </a:spcBef>
                  <a:spcAft>
                    <a:spcPts val="0"/>
                  </a:spcAft>
                  <a:buNone/>
                </a:pPr>
                <a:r>
                  <a:rPr lang="en-GB" sz="550" b="0" dirty="0">
                    <a:solidFill>
                      <a:srgbClr val="E6EFEA"/>
                    </a:solidFill>
                    <a:latin typeface="Arial"/>
                    <a:ea typeface="Arial"/>
                    <a:cs typeface="Arial"/>
                    <a:sym typeface="Arial"/>
                  </a:rPr>
                  <a:t>Optimal Class Output</a:t>
                </a:r>
                <a:endParaRPr sz="550" b="0" dirty="0">
                  <a:solidFill>
                    <a:srgbClr val="E6EFE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4" name="Google Shape;894;p25"/>
            <p:cNvSpPr/>
            <p:nvPr/>
          </p:nvSpPr>
          <p:spPr>
            <a:xfrm>
              <a:off x="571500" y="3819525"/>
              <a:ext cx="3429000" cy="304800"/>
            </a:xfrm>
            <a:prstGeom prst="roundRect">
              <a:avLst>
                <a:gd name="adj" fmla="val 12500"/>
              </a:avLst>
            </a:prstGeom>
            <a:solidFill>
              <a:srgbClr val="FAF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5"/>
            <p:cNvSpPr txBox="1"/>
            <p:nvPr/>
          </p:nvSpPr>
          <p:spPr>
            <a:xfrm>
              <a:off x="666750" y="381952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29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rPr>
                <a:t>Workflow Context:</a:t>
              </a:r>
              <a:r>
                <a:rPr lang="en-GB" sz="629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Multiple decision trees are generated in parallel over bootstrapped samples, ensuring extreme resistance to variance and robust banking predictions.</a:t>
              </a:r>
              <a:endParaRPr sz="629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96" name="Google Shape;896;p25"/>
          <p:cNvCxnSpPr/>
          <p:nvPr/>
        </p:nvCxnSpPr>
        <p:spPr>
          <a:xfrm>
            <a:off x="4191000" y="1095375"/>
            <a:ext cx="0" cy="30957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97" name="Google Shape;897;p25"/>
          <p:cNvGrpSpPr/>
          <p:nvPr/>
        </p:nvGrpSpPr>
        <p:grpSpPr>
          <a:xfrm>
            <a:off x="4381500" y="1095375"/>
            <a:ext cx="4381500" cy="2190900"/>
            <a:chOff x="4381500" y="1095375"/>
            <a:chExt cx="4381500" cy="2190900"/>
          </a:xfrm>
        </p:grpSpPr>
        <p:grpSp>
          <p:nvGrpSpPr>
            <p:cNvPr id="898" name="Google Shape;898;p25"/>
            <p:cNvGrpSpPr/>
            <p:nvPr/>
          </p:nvGrpSpPr>
          <p:grpSpPr>
            <a:xfrm>
              <a:off x="4381500" y="1095375"/>
              <a:ext cx="2095500" cy="1047900"/>
              <a:chOff x="4381500" y="1095375"/>
              <a:chExt cx="2095500" cy="1047900"/>
            </a:xfrm>
          </p:grpSpPr>
          <p:sp>
            <p:nvSpPr>
              <p:cNvPr id="899" name="Google Shape;899;p25"/>
              <p:cNvSpPr/>
              <p:nvPr/>
            </p:nvSpPr>
            <p:spPr>
              <a:xfrm>
                <a:off x="4381500" y="1095375"/>
                <a:ext cx="20955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25"/>
              <p:cNvSpPr/>
              <p:nvPr/>
            </p:nvSpPr>
            <p:spPr>
              <a:xfrm>
                <a:off x="4381500" y="1095375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25"/>
              <p:cNvSpPr/>
              <p:nvPr/>
            </p:nvSpPr>
            <p:spPr>
              <a:xfrm>
                <a:off x="4381500" y="1266825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25"/>
              <p:cNvSpPr txBox="1"/>
              <p:nvPr/>
            </p:nvSpPr>
            <p:spPr>
              <a:xfrm>
                <a:off x="4495800" y="1095375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Why Random Forest?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3" name="Google Shape;903;p25"/>
              <p:cNvSpPr txBox="1"/>
              <p:nvPr/>
            </p:nvSpPr>
            <p:spPr>
              <a:xfrm>
                <a:off x="4495800" y="1409700"/>
                <a:ext cx="18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Reduces overfitting</a:t>
                </a: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seen in single trees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Dramatically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improves accuracy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Leverages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ensemble learning</a:t>
                </a: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approach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25"/>
            <p:cNvGrpSpPr/>
            <p:nvPr/>
          </p:nvGrpSpPr>
          <p:grpSpPr>
            <a:xfrm>
              <a:off x="6667500" y="1095375"/>
              <a:ext cx="2095500" cy="1047900"/>
              <a:chOff x="6667500" y="1095375"/>
              <a:chExt cx="2095500" cy="1047900"/>
            </a:xfrm>
          </p:grpSpPr>
          <p:sp>
            <p:nvSpPr>
              <p:cNvPr id="905" name="Google Shape;905;p25"/>
              <p:cNvSpPr/>
              <p:nvPr/>
            </p:nvSpPr>
            <p:spPr>
              <a:xfrm>
                <a:off x="6667500" y="1095375"/>
                <a:ext cx="20955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25"/>
              <p:cNvSpPr/>
              <p:nvPr/>
            </p:nvSpPr>
            <p:spPr>
              <a:xfrm>
                <a:off x="6667500" y="1095375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25"/>
              <p:cNvSpPr/>
              <p:nvPr/>
            </p:nvSpPr>
            <p:spPr>
              <a:xfrm>
                <a:off x="6667500" y="1266825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25"/>
              <p:cNvSpPr txBox="1"/>
              <p:nvPr/>
            </p:nvSpPr>
            <p:spPr>
              <a:xfrm>
                <a:off x="6781800" y="1095375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Working Principle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09" name="Google Shape;909;p25"/>
              <p:cNvSpPr txBox="1"/>
              <p:nvPr/>
            </p:nvSpPr>
            <p:spPr>
              <a:xfrm>
                <a:off x="6781800" y="1409700"/>
                <a:ext cx="18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Creates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multiple Decision Trees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Uses row-level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Bootstrap Sampling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Aggregate predictions via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Voting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0" name="Google Shape;910;p25"/>
            <p:cNvGrpSpPr/>
            <p:nvPr/>
          </p:nvGrpSpPr>
          <p:grpSpPr>
            <a:xfrm>
              <a:off x="4381500" y="2238375"/>
              <a:ext cx="2095500" cy="1047900"/>
              <a:chOff x="4381500" y="2238375"/>
              <a:chExt cx="2095500" cy="1047900"/>
            </a:xfrm>
          </p:grpSpPr>
          <p:sp>
            <p:nvSpPr>
              <p:cNvPr id="911" name="Google Shape;911;p25"/>
              <p:cNvSpPr/>
              <p:nvPr/>
            </p:nvSpPr>
            <p:spPr>
              <a:xfrm>
                <a:off x="4381500" y="2238375"/>
                <a:ext cx="20955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25"/>
              <p:cNvSpPr/>
              <p:nvPr/>
            </p:nvSpPr>
            <p:spPr>
              <a:xfrm>
                <a:off x="4381500" y="2238375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25"/>
              <p:cNvSpPr/>
              <p:nvPr/>
            </p:nvSpPr>
            <p:spPr>
              <a:xfrm>
                <a:off x="4381500" y="2409825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5"/>
              <p:cNvSpPr txBox="1"/>
              <p:nvPr/>
            </p:nvSpPr>
            <p:spPr>
              <a:xfrm>
                <a:off x="4495800" y="2238375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 Key Advantages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15" name="Google Shape;915;p25"/>
              <p:cNvSpPr txBox="1"/>
              <p:nvPr/>
            </p:nvSpPr>
            <p:spPr>
              <a:xfrm>
                <a:off x="4495800" y="2552700"/>
                <a:ext cx="18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High accuracy &amp;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better generalization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Exceptionally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robust to noise</a:t>
                </a: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&amp; outliers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15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• </a:t>
                </a: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No feature scaling</a:t>
                </a:r>
                <a:r>
                  <a:rPr lang="en-GB" sz="750" b="0">
                    <a:solidFill>
                      <a:srgbClr val="333333"/>
                    </a:solidFill>
                    <a:latin typeface="Arial"/>
                    <a:ea typeface="Arial"/>
                    <a:cs typeface="Arial"/>
                    <a:sym typeface="Arial"/>
                  </a:rPr>
                  <a:t> required for input</a:t>
                </a:r>
                <a:endParaRPr sz="7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6" name="Google Shape;916;p25"/>
            <p:cNvGrpSpPr/>
            <p:nvPr/>
          </p:nvGrpSpPr>
          <p:grpSpPr>
            <a:xfrm>
              <a:off x="6667500" y="2238375"/>
              <a:ext cx="2095500" cy="1047900"/>
              <a:chOff x="6667500" y="2238375"/>
              <a:chExt cx="2095500" cy="1047900"/>
            </a:xfrm>
          </p:grpSpPr>
          <p:sp>
            <p:nvSpPr>
              <p:cNvPr id="917" name="Google Shape;917;p25"/>
              <p:cNvSpPr/>
              <p:nvPr/>
            </p:nvSpPr>
            <p:spPr>
              <a:xfrm>
                <a:off x="6667500" y="2238375"/>
                <a:ext cx="20955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5"/>
              <p:cNvSpPr/>
              <p:nvPr/>
            </p:nvSpPr>
            <p:spPr>
              <a:xfrm>
                <a:off x="6667500" y="2238375"/>
                <a:ext cx="20955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5"/>
              <p:cNvSpPr/>
              <p:nvPr/>
            </p:nvSpPr>
            <p:spPr>
              <a:xfrm>
                <a:off x="6667500" y="2409825"/>
                <a:ext cx="2095500" cy="95400"/>
              </a:xfrm>
              <a:prstGeom prst="rect">
                <a:avLst/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5"/>
              <p:cNvSpPr txBox="1"/>
              <p:nvPr/>
            </p:nvSpPr>
            <p:spPr>
              <a:xfrm>
                <a:off x="6781800" y="2238375"/>
                <a:ext cx="1866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 Project Performance</a:t>
                </a:r>
                <a:endParaRPr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grpSp>
            <p:nvGrpSpPr>
              <p:cNvPr id="921" name="Google Shape;921;p25"/>
              <p:cNvGrpSpPr/>
              <p:nvPr/>
            </p:nvGrpSpPr>
            <p:grpSpPr>
              <a:xfrm>
                <a:off x="6715125" y="2590800"/>
                <a:ext cx="1952700" cy="333300"/>
                <a:chOff x="6715125" y="2590800"/>
                <a:chExt cx="1952700" cy="333300"/>
              </a:xfrm>
            </p:grpSpPr>
            <p:sp>
              <p:nvSpPr>
                <p:cNvPr id="922" name="Google Shape;922;p25"/>
                <p:cNvSpPr txBox="1"/>
                <p:nvPr/>
              </p:nvSpPr>
              <p:spPr>
                <a:xfrm>
                  <a:off x="6715125" y="2590800"/>
                  <a:ext cx="5715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5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90.2%</a:t>
                  </a:r>
                  <a:br>
                    <a:rPr lang="en-GB" sz="105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</a:br>
                  <a:r>
                    <a:rPr lang="en-GB" sz="650" b="1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Accuracy</a:t>
                  </a:r>
                  <a:endParaRPr sz="105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23" name="Google Shape;923;p25"/>
                <p:cNvSpPr txBox="1"/>
                <p:nvPr/>
              </p:nvSpPr>
              <p:spPr>
                <a:xfrm>
                  <a:off x="7286625" y="2590800"/>
                  <a:ext cx="5715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50" b="1">
                      <a:solidFill>
                        <a:srgbClr val="D4AF37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81.1%</a:t>
                  </a:r>
                  <a:br>
                    <a:rPr lang="en-GB" sz="1050" b="1">
                      <a:solidFill>
                        <a:srgbClr val="D4AF37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</a:br>
                  <a:r>
                    <a:rPr lang="en-GB" sz="650" b="1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ROC-AUC</a:t>
                  </a:r>
                  <a:endParaRPr sz="1050" b="1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  <p:sp>
              <p:nvSpPr>
                <p:cNvPr id="924" name="Google Shape;924;p25"/>
                <p:cNvSpPr txBox="1"/>
                <p:nvPr/>
              </p:nvSpPr>
              <p:spPr>
                <a:xfrm>
                  <a:off x="7858125" y="2590800"/>
                  <a:ext cx="8097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5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  <a:t>33.8%</a:t>
                  </a:r>
                  <a:br>
                    <a:rPr lang="en-GB" sz="1050" b="1">
                      <a:solidFill>
                        <a:srgbClr val="0F6B4A"/>
                      </a:solidFill>
                      <a:latin typeface="Georgia"/>
                      <a:ea typeface="Georgia"/>
                      <a:cs typeface="Georgia"/>
                      <a:sym typeface="Georgia"/>
                    </a:rPr>
                  </a:br>
                  <a:r>
                    <a:rPr lang="en-GB" sz="650" b="1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F1 (P:71%|R:22%)</a:t>
                  </a:r>
                  <a:endParaRPr sz="105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endParaRPr>
                </a:p>
              </p:txBody>
            </p:sp>
          </p:grpSp>
          <p:cxnSp>
            <p:nvCxnSpPr>
              <p:cNvPr id="925" name="Google Shape;925;p25"/>
              <p:cNvCxnSpPr/>
              <p:nvPr/>
            </p:nvCxnSpPr>
            <p:spPr>
              <a:xfrm>
                <a:off x="6762750" y="2971800"/>
                <a:ext cx="1905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926" name="Google Shape;926;p25"/>
              <p:cNvGrpSpPr/>
              <p:nvPr/>
            </p:nvGrpSpPr>
            <p:grpSpPr>
              <a:xfrm>
                <a:off x="6762750" y="3000375"/>
                <a:ext cx="1904925" cy="238200"/>
                <a:chOff x="6762750" y="3000375"/>
                <a:chExt cx="1904925" cy="238200"/>
              </a:xfrm>
            </p:grpSpPr>
            <p:sp>
              <p:nvSpPr>
                <p:cNvPr id="927" name="Google Shape;927;p25"/>
                <p:cNvSpPr txBox="1"/>
                <p:nvPr/>
              </p:nvSpPr>
              <p:spPr>
                <a:xfrm>
                  <a:off x="6762750" y="3000375"/>
                  <a:ext cx="904800" cy="2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5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Precision</a:t>
                  </a:r>
                  <a:br>
                    <a:rPr lang="en-GB" sz="65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lang="en-GB" sz="750" b="1">
                      <a:solidFill>
                        <a:srgbClr val="0F6B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70.55%</a:t>
                  </a:r>
                  <a:endParaRPr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28" name="Google Shape;928;p25"/>
                <p:cNvCxnSpPr/>
                <p:nvPr/>
              </p:nvCxnSpPr>
              <p:spPr>
                <a:xfrm>
                  <a:off x="7715250" y="3028950"/>
                  <a:ext cx="0" cy="180900"/>
                </a:xfrm>
                <a:prstGeom prst="straightConnector1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E2E0D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929" name="Google Shape;929;p25"/>
                <p:cNvSpPr txBox="1"/>
                <p:nvPr/>
              </p:nvSpPr>
              <p:spPr>
                <a:xfrm>
                  <a:off x="7762875" y="3000375"/>
                  <a:ext cx="904800" cy="2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65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Recall</a:t>
                  </a:r>
                  <a:br>
                    <a:rPr lang="en-GB" sz="650">
                      <a:solidFill>
                        <a:srgbClr val="5555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lang="en-GB" sz="750" b="1">
                      <a:solidFill>
                        <a:srgbClr val="0F6B4A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22.20%</a:t>
                  </a:r>
                  <a:endParaRPr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30" name="Google Shape;930;p25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sp>
          <p:nvSpPr>
            <p:cNvPr id="931" name="Google Shape;931;p25"/>
            <p:cNvSpPr/>
            <p:nvPr/>
          </p:nvSpPr>
          <p:spPr>
            <a:xfrm>
              <a:off x="571500" y="4333875"/>
              <a:ext cx="8001000" cy="533400"/>
            </a:xfrm>
            <a:prstGeom prst="roundRect">
              <a:avLst>
                <a:gd name="adj" fmla="val 10714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714375" y="4429125"/>
              <a:ext cx="38100" cy="3429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5"/>
            <p:cNvSpPr txBox="1"/>
            <p:nvPr/>
          </p:nvSpPr>
          <p:spPr>
            <a:xfrm>
              <a:off x="857250" y="4333875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MODEL OPTIMIZATION HIGHLIGHT</a:t>
              </a:r>
              <a:endParaRPr sz="740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"Random Forest improved model stability and generalization by combining multiple Decision Trees."</a:t>
              </a:r>
              <a:endParaRPr sz="95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26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6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1" name="Google Shape;94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6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rPr>
              <a:t>FINANCIAL ANALYTICS</a:t>
            </a:r>
            <a:endParaRPr sz="740" b="1">
              <a:solidFill>
                <a:srgbClr val="0F6B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26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4: XGBoost (Best Performing Model)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944" name="Google Shape;944;p26"/>
          <p:cNvCxnSpPr/>
          <p:nvPr/>
        </p:nvCxnSpPr>
        <p:spPr>
          <a:xfrm>
            <a:off x="4191000" y="1095375"/>
            <a:ext cx="0" cy="30957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45" name="Google Shape;945;p26"/>
          <p:cNvGrpSpPr/>
          <p:nvPr/>
        </p:nvGrpSpPr>
        <p:grpSpPr>
          <a:xfrm>
            <a:off x="566738" y="1090613"/>
            <a:ext cx="3438600" cy="3105300"/>
            <a:chOff x="566738" y="1090613"/>
            <a:chExt cx="3438600" cy="3105300"/>
          </a:xfrm>
        </p:grpSpPr>
        <p:pic>
          <p:nvPicPr>
            <p:cNvPr id="946" name="Google Shape;946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6738" y="1090613"/>
              <a:ext cx="3438600" cy="310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7" name="Google Shape;947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26"/>
            <p:cNvSpPr/>
            <p:nvPr/>
          </p:nvSpPr>
          <p:spPr>
            <a:xfrm>
              <a:off x="571500" y="1285875"/>
              <a:ext cx="34290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 txBox="1"/>
            <p:nvPr/>
          </p:nvSpPr>
          <p:spPr>
            <a:xfrm>
              <a:off x="714375" y="1095375"/>
              <a:ext cx="314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Sequential Boosting Architecture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950" name="Google Shape;950;p26"/>
            <p:cNvGrpSpPr/>
            <p:nvPr/>
          </p:nvGrpSpPr>
          <p:grpSpPr>
            <a:xfrm>
              <a:off x="1662113" y="1443038"/>
              <a:ext cx="1247700" cy="2319488"/>
              <a:chOff x="1662113" y="1443038"/>
              <a:chExt cx="1247700" cy="2319488"/>
            </a:xfrm>
          </p:grpSpPr>
          <p:pic>
            <p:nvPicPr>
              <p:cNvPr id="951" name="Google Shape;951;p26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662113" y="1443038"/>
                <a:ext cx="12477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2" name="Google Shape;952;p26"/>
              <p:cNvSpPr txBox="1"/>
              <p:nvPr/>
            </p:nvSpPr>
            <p:spPr>
              <a:xfrm>
                <a:off x="1666875" y="1447800"/>
                <a:ext cx="1238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Training Dataset</a:t>
                </a:r>
                <a:endParaRPr sz="6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50" b="0" dirty="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Banking Records</a:t>
                </a:r>
                <a:endParaRPr sz="550" b="0" dirty="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53" name="Google Shape;953;p26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52663" y="1752600"/>
                <a:ext cx="666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4" name="Google Shape;954;p2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757363" y="1862138"/>
                <a:ext cx="10572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5" name="Google Shape;955;p26"/>
              <p:cNvSpPr txBox="1"/>
              <p:nvPr/>
            </p:nvSpPr>
            <p:spPr>
              <a:xfrm>
                <a:off x="1762125" y="1866900"/>
                <a:ext cx="1047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Tree 1 (Baseline)</a:t>
                </a:r>
                <a:endParaRPr sz="6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56" name="Google Shape;956;p26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252663" y="2114550"/>
                <a:ext cx="666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7" name="Google Shape;957;p26"/>
              <p:cNvSpPr/>
              <p:nvPr/>
            </p:nvSpPr>
            <p:spPr>
              <a:xfrm>
                <a:off x="1762125" y="2238375"/>
                <a:ext cx="10479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FFF5E6"/>
              </a:solidFill>
              <a:ln w="9525" cap="flat" cmpd="sng">
                <a:solidFill>
                  <a:srgbClr val="FFE0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6"/>
              <p:cNvSpPr txBox="1"/>
              <p:nvPr/>
            </p:nvSpPr>
            <p:spPr>
              <a:xfrm>
                <a:off x="1762125" y="2238375"/>
                <a:ext cx="1047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50" b="1">
                    <a:solidFill>
                      <a:srgbClr val="E65100"/>
                    </a:solidFill>
                    <a:latin typeface="Inter"/>
                    <a:ea typeface="Inter"/>
                    <a:cs typeface="Inter"/>
                    <a:sym typeface="Inter"/>
                  </a:rPr>
                  <a:t>Errors Passed</a:t>
                </a:r>
                <a:endParaRPr sz="550" b="1">
                  <a:solidFill>
                    <a:srgbClr val="E651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59" name="Google Shape;959;p26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52663" y="2371725"/>
                <a:ext cx="666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0" name="Google Shape;960;p2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757363" y="2471738"/>
                <a:ext cx="10572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1" name="Google Shape;961;p26"/>
              <p:cNvSpPr txBox="1"/>
              <p:nvPr/>
            </p:nvSpPr>
            <p:spPr>
              <a:xfrm>
                <a:off x="1762125" y="2476500"/>
                <a:ext cx="1047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Tree 2</a:t>
                </a:r>
                <a:endParaRPr sz="6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62" name="Google Shape;962;p26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252663" y="2724150"/>
                <a:ext cx="666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3" name="Google Shape;963;p26"/>
              <p:cNvSpPr/>
              <p:nvPr/>
            </p:nvSpPr>
            <p:spPr>
              <a:xfrm>
                <a:off x="1762125" y="2847975"/>
                <a:ext cx="10479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FFF5E6"/>
              </a:solidFill>
              <a:ln w="9525" cap="flat" cmpd="sng">
                <a:solidFill>
                  <a:srgbClr val="FFE0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26"/>
              <p:cNvSpPr txBox="1"/>
              <p:nvPr/>
            </p:nvSpPr>
            <p:spPr>
              <a:xfrm>
                <a:off x="1762125" y="2847975"/>
                <a:ext cx="1047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50" b="1">
                    <a:solidFill>
                      <a:srgbClr val="E65100"/>
                    </a:solidFill>
                    <a:latin typeface="Inter"/>
                    <a:ea typeface="Inter"/>
                    <a:cs typeface="Inter"/>
                    <a:sym typeface="Inter"/>
                  </a:rPr>
                  <a:t>Errors Passed</a:t>
                </a:r>
                <a:endParaRPr sz="550" b="1">
                  <a:solidFill>
                    <a:srgbClr val="E651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65" name="Google Shape;965;p26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52663" y="2981325"/>
                <a:ext cx="666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6" name="Google Shape;966;p26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757363" y="3081338"/>
                <a:ext cx="1057200" cy="25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7" name="Google Shape;967;p26"/>
              <p:cNvSpPr txBox="1"/>
              <p:nvPr/>
            </p:nvSpPr>
            <p:spPr>
              <a:xfrm>
                <a:off x="1762125" y="3086100"/>
                <a:ext cx="1047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Tree 3</a:t>
                </a:r>
                <a:endParaRPr sz="6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968" name="Google Shape;968;p26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52663" y="3333750"/>
                <a:ext cx="666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9" name="Google Shape;969;p26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1666875" y="3438525"/>
                <a:ext cx="1238400" cy="324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0" name="Google Shape;970;p26"/>
              <p:cNvSpPr txBox="1"/>
              <p:nvPr/>
            </p:nvSpPr>
            <p:spPr>
              <a:xfrm>
                <a:off x="1666875" y="3438525"/>
                <a:ext cx="12384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Final Prediction</a:t>
                </a:r>
                <a:endParaRPr sz="8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550" b="0" dirty="0">
                    <a:solidFill>
                      <a:srgbClr val="FFF8E1"/>
                    </a:solidFill>
                    <a:latin typeface="Inter"/>
                    <a:ea typeface="Inter"/>
                    <a:cs typeface="Inter"/>
                    <a:sym typeface="Inter"/>
                  </a:rPr>
                  <a:t>🏆 Best Model Match</a:t>
                </a:r>
                <a:endParaRPr sz="550" b="0" dirty="0">
                  <a:solidFill>
                    <a:srgbClr val="FFF8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971" name="Google Shape;971;p26"/>
            <p:cNvSpPr/>
            <p:nvPr/>
          </p:nvSpPr>
          <p:spPr>
            <a:xfrm>
              <a:off x="571500" y="3886200"/>
              <a:ext cx="3429000" cy="304800"/>
            </a:xfrm>
            <a:prstGeom prst="roundRect">
              <a:avLst>
                <a:gd name="adj" fmla="val 12500"/>
              </a:avLst>
            </a:prstGeom>
            <a:solidFill>
              <a:srgbClr val="FAF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 txBox="1"/>
            <p:nvPr/>
          </p:nvSpPr>
          <p:spPr>
            <a:xfrm>
              <a:off x="666750" y="3886200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Boosting Mechanism:</a:t>
              </a:r>
              <a:r>
                <a:rPr lang="en-GB" sz="6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Trees are trained sequentially to correct previous errors, minimizing gradient loss and maximizing accuracy.</a:t>
              </a:r>
              <a:endParaRPr sz="65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3" name="Google Shape;973;p26"/>
          <p:cNvGrpSpPr/>
          <p:nvPr/>
        </p:nvGrpSpPr>
        <p:grpSpPr>
          <a:xfrm>
            <a:off x="4376738" y="1090613"/>
            <a:ext cx="2105100" cy="981000"/>
            <a:chOff x="4376738" y="1090613"/>
            <a:chExt cx="2105100" cy="981000"/>
          </a:xfrm>
        </p:grpSpPr>
        <p:pic>
          <p:nvPicPr>
            <p:cNvPr id="974" name="Google Shape;974;p2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376738" y="1090613"/>
              <a:ext cx="2105100" cy="9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" name="Google Shape;975;p2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381500" y="1095375"/>
              <a:ext cx="20955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26"/>
            <p:cNvSpPr/>
            <p:nvPr/>
          </p:nvSpPr>
          <p:spPr>
            <a:xfrm>
              <a:off x="4381500" y="1266825"/>
              <a:ext cx="20955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 txBox="1"/>
            <p:nvPr/>
          </p:nvSpPr>
          <p:spPr>
            <a:xfrm>
              <a:off x="4495800" y="1095375"/>
              <a:ext cx="1866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Why </a:t>
              </a:r>
              <a:r>
                <a:rPr lang="en-GB" sz="950" b="1" dirty="0" err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XGBoost</a:t>
              </a: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?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78" name="Google Shape;978;p26"/>
            <p:cNvSpPr txBox="1"/>
            <p:nvPr/>
          </p:nvSpPr>
          <p:spPr>
            <a:xfrm>
              <a:off x="4495800" y="1409700"/>
              <a:ext cx="18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Gradient Boosting framework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High predictive performance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Handles complex, non-linear relationships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9" name="Google Shape;979;p26"/>
          <p:cNvGrpSpPr/>
          <p:nvPr/>
        </p:nvGrpSpPr>
        <p:grpSpPr>
          <a:xfrm>
            <a:off x="6662738" y="1090613"/>
            <a:ext cx="2105100" cy="981000"/>
            <a:chOff x="6662738" y="1090613"/>
            <a:chExt cx="2105100" cy="981000"/>
          </a:xfrm>
        </p:grpSpPr>
        <p:pic>
          <p:nvPicPr>
            <p:cNvPr id="980" name="Google Shape;980;p2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62738" y="1090613"/>
              <a:ext cx="2105100" cy="9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1" name="Google Shape;981;p2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667500" y="1095375"/>
              <a:ext cx="20955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26"/>
            <p:cNvSpPr/>
            <p:nvPr/>
          </p:nvSpPr>
          <p:spPr>
            <a:xfrm>
              <a:off x="6667500" y="1266825"/>
              <a:ext cx="20955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6"/>
            <p:cNvSpPr txBox="1"/>
            <p:nvPr/>
          </p:nvSpPr>
          <p:spPr>
            <a:xfrm>
              <a:off x="6781800" y="1095375"/>
              <a:ext cx="1866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 Working Principle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84" name="Google Shape;984;p26"/>
            <p:cNvSpPr txBox="1"/>
            <p:nvPr/>
          </p:nvSpPr>
          <p:spPr>
            <a:xfrm>
              <a:off x="6781800" y="1409700"/>
              <a:ext cx="18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Sequential tree construction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Each tree learns from previous errors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Mathematically optimized via Gradient Descent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5" name="Google Shape;985;p26"/>
          <p:cNvGrpSpPr/>
          <p:nvPr/>
        </p:nvGrpSpPr>
        <p:grpSpPr>
          <a:xfrm>
            <a:off x="4376738" y="2157413"/>
            <a:ext cx="2105100" cy="1057200"/>
            <a:chOff x="4376738" y="2157413"/>
            <a:chExt cx="2105100" cy="1057200"/>
          </a:xfrm>
        </p:grpSpPr>
        <p:pic>
          <p:nvPicPr>
            <p:cNvPr id="986" name="Google Shape;986;p2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376738" y="2157413"/>
              <a:ext cx="2105100" cy="10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7" name="Google Shape;987;p2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381500" y="2162175"/>
              <a:ext cx="20955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8" name="Google Shape;988;p26"/>
            <p:cNvSpPr/>
            <p:nvPr/>
          </p:nvSpPr>
          <p:spPr>
            <a:xfrm>
              <a:off x="4381500" y="2333625"/>
              <a:ext cx="20955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 txBox="1"/>
            <p:nvPr/>
          </p:nvSpPr>
          <p:spPr>
            <a:xfrm>
              <a:off x="4495800" y="2162175"/>
              <a:ext cx="1866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Key Advantages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90" name="Google Shape;990;p26"/>
            <p:cNvSpPr txBox="1"/>
            <p:nvPr/>
          </p:nvSpPr>
          <p:spPr>
            <a:xfrm>
              <a:off x="4495800" y="2476500"/>
              <a:ext cx="1866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Excellent accuracy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on structured data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GB" sz="74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Built-in regularization</a:t>
              </a: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prevents overfitting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lang="en-GB" sz="74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• Highly efficient parallel processing</a:t>
              </a:r>
              <a:endParaRPr sz="740" b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1" name="Google Shape;991;p26"/>
          <p:cNvGrpSpPr/>
          <p:nvPr/>
        </p:nvGrpSpPr>
        <p:grpSpPr>
          <a:xfrm>
            <a:off x="6662738" y="2157413"/>
            <a:ext cx="2105100" cy="1057200"/>
            <a:chOff x="6662738" y="2157413"/>
            <a:chExt cx="2105100" cy="1057200"/>
          </a:xfrm>
        </p:grpSpPr>
        <p:pic>
          <p:nvPicPr>
            <p:cNvPr id="992" name="Google Shape;992;p2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662738" y="2157413"/>
              <a:ext cx="2105100" cy="10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3" name="Google Shape;993;p2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667500" y="2162175"/>
              <a:ext cx="20955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26"/>
            <p:cNvSpPr/>
            <p:nvPr/>
          </p:nvSpPr>
          <p:spPr>
            <a:xfrm>
              <a:off x="6667500" y="2333625"/>
              <a:ext cx="20955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6"/>
            <p:cNvSpPr txBox="1"/>
            <p:nvPr/>
          </p:nvSpPr>
          <p:spPr>
            <a:xfrm>
              <a:off x="6781800" y="2162175"/>
              <a:ext cx="1866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 dirty="0" err="1">
                  <a:solidFill>
                    <a:srgbClr val="0F6B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</a:t>
              </a:r>
              <a:r>
                <a:rPr lang="en-GB" sz="950" b="1" dirty="0" err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Project</a:t>
              </a:r>
              <a:r>
                <a:rPr lang="en-GB" sz="9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 Performance</a:t>
              </a:r>
              <a:endParaRPr sz="9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996" name="Google Shape;996;p26"/>
            <p:cNvGrpSpPr/>
            <p:nvPr/>
          </p:nvGrpSpPr>
          <p:grpSpPr>
            <a:xfrm>
              <a:off x="6715125" y="2495550"/>
              <a:ext cx="1952700" cy="333300"/>
              <a:chOff x="6715125" y="2495550"/>
              <a:chExt cx="1952700" cy="333300"/>
            </a:xfrm>
          </p:grpSpPr>
          <p:sp>
            <p:nvSpPr>
              <p:cNvPr id="997" name="Google Shape;997;p26"/>
              <p:cNvSpPr txBox="1"/>
              <p:nvPr/>
            </p:nvSpPr>
            <p:spPr>
              <a:xfrm>
                <a:off x="6715125" y="2495550"/>
                <a:ext cx="571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90.24%</a:t>
                </a:r>
                <a:br>
                  <a:rPr lang="en-GB" sz="10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</a:br>
                <a:r>
                  <a:rPr lang="en-GB" sz="6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Accuracy</a:t>
                </a:r>
                <a:endParaRPr sz="10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98" name="Google Shape;998;p26"/>
              <p:cNvSpPr txBox="1"/>
              <p:nvPr/>
            </p:nvSpPr>
            <p:spPr>
              <a:xfrm>
                <a:off x="7286625" y="2495550"/>
                <a:ext cx="5715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81.50%</a:t>
                </a:r>
                <a:br>
                  <a:rPr lang="en-GB" sz="1000" b="1">
                    <a:solidFill>
                      <a:srgbClr val="D4AF37"/>
                    </a:solidFill>
                    <a:latin typeface="Georgia"/>
                    <a:ea typeface="Georgia"/>
                    <a:cs typeface="Georgia"/>
                    <a:sym typeface="Georgia"/>
                  </a:rPr>
                </a:br>
                <a:r>
                  <a:rPr lang="en-GB" sz="6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ROC-AUC</a:t>
                </a:r>
                <a:endParaRPr sz="1000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999" name="Google Shape;999;p26"/>
              <p:cNvSpPr txBox="1"/>
              <p:nvPr/>
            </p:nvSpPr>
            <p:spPr>
              <a:xfrm>
                <a:off x="7858125" y="2495550"/>
                <a:ext cx="8097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36.69%</a:t>
                </a:r>
                <a:br>
                  <a:rPr lang="en-GB" sz="10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</a:br>
                <a:r>
                  <a:rPr lang="en-GB" sz="6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F1 (P:68%|R:25%)</a:t>
                </a:r>
                <a:endParaRPr sz="10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cxnSp>
          <p:nvCxnSpPr>
            <p:cNvPr id="1000" name="Google Shape;1000;p26"/>
            <p:cNvCxnSpPr/>
            <p:nvPr/>
          </p:nvCxnSpPr>
          <p:spPr>
            <a:xfrm rot="10800000">
              <a:off x="7715250" y="194310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01" name="Google Shape;1001;p26"/>
            <p:cNvGrpSpPr/>
            <p:nvPr/>
          </p:nvGrpSpPr>
          <p:grpSpPr>
            <a:xfrm>
              <a:off x="6762750" y="2914650"/>
              <a:ext cx="1904925" cy="238200"/>
              <a:chOff x="6762750" y="2914650"/>
              <a:chExt cx="1904925" cy="238200"/>
            </a:xfrm>
          </p:grpSpPr>
          <p:sp>
            <p:nvSpPr>
              <p:cNvPr id="1002" name="Google Shape;1002;p26"/>
              <p:cNvSpPr txBox="1"/>
              <p:nvPr/>
            </p:nvSpPr>
            <p:spPr>
              <a:xfrm>
                <a:off x="6762750" y="2914650"/>
                <a:ext cx="904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Precision</a:t>
                </a:r>
                <a:br>
                  <a:rPr lang="en-GB"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68.13%</a:t>
                </a:r>
                <a:endParaRPr sz="6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03" name="Google Shape;1003;p26"/>
              <p:cNvCxnSpPr/>
              <p:nvPr/>
            </p:nvCxnSpPr>
            <p:spPr>
              <a:xfrm>
                <a:off x="7715250" y="2943225"/>
                <a:ext cx="0" cy="1809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04" name="Google Shape;1004;p26"/>
              <p:cNvSpPr txBox="1"/>
              <p:nvPr/>
            </p:nvSpPr>
            <p:spPr>
              <a:xfrm>
                <a:off x="7762875" y="2914650"/>
                <a:ext cx="904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Recall</a:t>
                </a:r>
                <a:br>
                  <a:rPr lang="en-GB" sz="65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25.11%</a:t>
                </a:r>
                <a:endParaRPr sz="6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5" name="Google Shape;1005;p26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pic>
          <p:nvPicPr>
            <p:cNvPr id="1006" name="Google Shape;1006;p2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1500" y="4333875"/>
              <a:ext cx="8001000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2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14375" y="4429125"/>
              <a:ext cx="381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26"/>
            <p:cNvSpPr txBox="1"/>
            <p:nvPr/>
          </p:nvSpPr>
          <p:spPr>
            <a:xfrm>
              <a:off x="857250" y="4333875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40" b="1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CHOSEN MODEL FOR DEPLOYMENT</a:t>
              </a:r>
              <a:endParaRPr sz="740" b="1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b="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"XGBoost achieved the best overall performance and was selected as the final model for deployment."</a:t>
              </a:r>
              <a:endParaRPr sz="950" b="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27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27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27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27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rPr>
              <a:t>FINANCIAL ANALYTICS</a:t>
            </a:r>
            <a:endParaRPr sz="750" b="1">
              <a:solidFill>
                <a:srgbClr val="0F6B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8" name="Google Shape;1018;p27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Comparison &amp; Performance Evaluation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019" name="Google Shape;1019;p27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0" name="Google Shape;1020;p27"/>
          <p:cNvGrpSpPr/>
          <p:nvPr/>
        </p:nvGrpSpPr>
        <p:grpSpPr>
          <a:xfrm>
            <a:off x="571500" y="1095375"/>
            <a:ext cx="5048400" cy="3095700"/>
            <a:chOff x="571500" y="1095375"/>
            <a:chExt cx="5048400" cy="3095700"/>
          </a:xfrm>
        </p:grpSpPr>
        <p:sp>
          <p:nvSpPr>
            <p:cNvPr id="1021" name="Google Shape;1021;p27"/>
            <p:cNvSpPr/>
            <p:nvPr/>
          </p:nvSpPr>
          <p:spPr>
            <a:xfrm>
              <a:off x="571500" y="1095375"/>
              <a:ext cx="5048400" cy="3095700"/>
            </a:xfrm>
            <a:prstGeom prst="roundRect">
              <a:avLst>
                <a:gd name="adj" fmla="val 2461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7"/>
            <p:cNvSpPr/>
            <p:nvPr/>
          </p:nvSpPr>
          <p:spPr>
            <a:xfrm>
              <a:off x="571500" y="1095375"/>
              <a:ext cx="5048400" cy="342900"/>
            </a:xfrm>
            <a:prstGeom prst="roundRect">
              <a:avLst>
                <a:gd name="adj" fmla="val 22222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7"/>
            <p:cNvSpPr/>
            <p:nvPr/>
          </p:nvSpPr>
          <p:spPr>
            <a:xfrm>
              <a:off x="571500" y="1343025"/>
              <a:ext cx="50484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7"/>
            <p:cNvSpPr txBox="1"/>
            <p:nvPr/>
          </p:nvSpPr>
          <p:spPr>
            <a:xfrm>
              <a:off x="714375" y="1095375"/>
              <a:ext cx="4762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Performance Metrics Matrix</a:t>
              </a:r>
              <a:endParaRPr sz="723" b="1" dirty="0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25" name="Google Shape;1025;p27"/>
            <p:cNvCxnSpPr/>
            <p:nvPr/>
          </p:nvCxnSpPr>
          <p:spPr>
            <a:xfrm>
              <a:off x="571500" y="1438275"/>
              <a:ext cx="5048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26" name="Google Shape;1026;p27"/>
            <p:cNvSpPr txBox="1"/>
            <p:nvPr/>
          </p:nvSpPr>
          <p:spPr>
            <a:xfrm>
              <a:off x="714375" y="152400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Model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7" name="Google Shape;1027;p27"/>
            <p:cNvSpPr txBox="1"/>
            <p:nvPr/>
          </p:nvSpPr>
          <p:spPr>
            <a:xfrm>
              <a:off x="2143125" y="1524000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Accuracy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8" name="Google Shape;1028;p27"/>
            <p:cNvSpPr txBox="1"/>
            <p:nvPr/>
          </p:nvSpPr>
          <p:spPr>
            <a:xfrm>
              <a:off x="2905125" y="1524000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Precision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9" name="Google Shape;1029;p27"/>
            <p:cNvSpPr txBox="1"/>
            <p:nvPr/>
          </p:nvSpPr>
          <p:spPr>
            <a:xfrm>
              <a:off x="3571875" y="152400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Recall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0" name="Google Shape;1030;p27"/>
            <p:cNvSpPr txBox="1"/>
            <p:nvPr/>
          </p:nvSpPr>
          <p:spPr>
            <a:xfrm>
              <a:off x="4143375" y="1524000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F1 Score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1" name="Google Shape;1031;p27"/>
            <p:cNvSpPr txBox="1"/>
            <p:nvPr/>
          </p:nvSpPr>
          <p:spPr>
            <a:xfrm>
              <a:off x="4857750" y="1524000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ROC-AUC</a:t>
              </a:r>
              <a:endParaRPr sz="723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32" name="Google Shape;1032;p27"/>
            <p:cNvCxnSpPr/>
            <p:nvPr/>
          </p:nvCxnSpPr>
          <p:spPr>
            <a:xfrm>
              <a:off x="571500" y="1762125"/>
              <a:ext cx="5048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3" name="Google Shape;1033;p27"/>
            <p:cNvSpPr txBox="1"/>
            <p:nvPr/>
          </p:nvSpPr>
          <p:spPr>
            <a:xfrm>
              <a:off x="714375" y="185737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Logistic Regression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34" name="Google Shape;1034;p27"/>
            <p:cNvSpPr txBox="1"/>
            <p:nvPr/>
          </p:nvSpPr>
          <p:spPr>
            <a:xfrm>
              <a:off x="2143125" y="1857375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90.16%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35" name="Google Shape;1035;p27"/>
            <p:cNvSpPr txBox="1"/>
            <p:nvPr/>
          </p:nvSpPr>
          <p:spPr>
            <a:xfrm>
              <a:off x="2905125" y="185737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69.44%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36" name="Google Shape;1036;p27"/>
            <p:cNvSpPr txBox="1"/>
            <p:nvPr/>
          </p:nvSpPr>
          <p:spPr>
            <a:xfrm>
              <a:off x="3571875" y="1857375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22.52%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37" name="Google Shape;1037;p27"/>
            <p:cNvSpPr txBox="1"/>
            <p:nvPr/>
          </p:nvSpPr>
          <p:spPr>
            <a:xfrm>
              <a:off x="4143375" y="185737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34.01%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38" name="Google Shape;1038;p27"/>
            <p:cNvSpPr txBox="1"/>
            <p:nvPr/>
          </p:nvSpPr>
          <p:spPr>
            <a:xfrm>
              <a:off x="4857750" y="185737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80.18%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1039" name="Google Shape;1039;p27"/>
            <p:cNvCxnSpPr/>
            <p:nvPr/>
          </p:nvCxnSpPr>
          <p:spPr>
            <a:xfrm>
              <a:off x="714375" y="2114550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w="477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40" name="Google Shape;1040;p27"/>
            <p:cNvSpPr txBox="1"/>
            <p:nvPr/>
          </p:nvSpPr>
          <p:spPr>
            <a:xfrm>
              <a:off x="714375" y="220980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Decision Tree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1" name="Google Shape;1041;p27"/>
            <p:cNvSpPr txBox="1"/>
            <p:nvPr/>
          </p:nvSpPr>
          <p:spPr>
            <a:xfrm>
              <a:off x="2143125" y="2209800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84.21%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2" name="Google Shape;1042;p27"/>
            <p:cNvSpPr txBox="1"/>
            <p:nvPr/>
          </p:nvSpPr>
          <p:spPr>
            <a:xfrm>
              <a:off x="2905125" y="2209800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31.07%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3" name="Google Shape;1043;p27"/>
            <p:cNvSpPr txBox="1"/>
            <p:nvPr/>
          </p:nvSpPr>
          <p:spPr>
            <a:xfrm>
              <a:off x="3571875" y="220980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32.97%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4" name="Google Shape;1044;p27"/>
            <p:cNvSpPr txBox="1"/>
            <p:nvPr/>
          </p:nvSpPr>
          <p:spPr>
            <a:xfrm>
              <a:off x="4143375" y="2209800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31.99%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5" name="Google Shape;1045;p27"/>
            <p:cNvSpPr txBox="1"/>
            <p:nvPr/>
          </p:nvSpPr>
          <p:spPr>
            <a:xfrm>
              <a:off x="4857750" y="2209800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62.00%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1046" name="Google Shape;1046;p27"/>
            <p:cNvCxnSpPr/>
            <p:nvPr/>
          </p:nvCxnSpPr>
          <p:spPr>
            <a:xfrm>
              <a:off x="714375" y="24669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w="477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47" name="Google Shape;1047;p27"/>
            <p:cNvSpPr txBox="1"/>
            <p:nvPr/>
          </p:nvSpPr>
          <p:spPr>
            <a:xfrm>
              <a:off x="714375" y="25622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Random Forest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8" name="Google Shape;1048;p27"/>
            <p:cNvSpPr txBox="1"/>
            <p:nvPr/>
          </p:nvSpPr>
          <p:spPr>
            <a:xfrm>
              <a:off x="2143125" y="2562225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90.19%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49" name="Google Shape;1049;p27"/>
            <p:cNvSpPr txBox="1"/>
            <p:nvPr/>
          </p:nvSpPr>
          <p:spPr>
            <a:xfrm>
              <a:off x="2905125" y="25622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70.55%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50" name="Google Shape;1050;p27"/>
            <p:cNvSpPr txBox="1"/>
            <p:nvPr/>
          </p:nvSpPr>
          <p:spPr>
            <a:xfrm>
              <a:off x="3571875" y="2562225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22.20%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51" name="Google Shape;1051;p27"/>
            <p:cNvSpPr txBox="1"/>
            <p:nvPr/>
          </p:nvSpPr>
          <p:spPr>
            <a:xfrm>
              <a:off x="4143375" y="256222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33.77%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52" name="Google Shape;1052;p27"/>
            <p:cNvSpPr txBox="1"/>
            <p:nvPr/>
          </p:nvSpPr>
          <p:spPr>
            <a:xfrm>
              <a:off x="4857750" y="256222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81.05%</a:t>
              </a:r>
              <a:endParaRPr sz="723" b="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1053" name="Google Shape;1053;p27"/>
            <p:cNvCxnSpPr/>
            <p:nvPr/>
          </p:nvCxnSpPr>
          <p:spPr>
            <a:xfrm>
              <a:off x="714375" y="2819400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w="477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54" name="Google Shape;1054;p27"/>
            <p:cNvSpPr/>
            <p:nvPr/>
          </p:nvSpPr>
          <p:spPr>
            <a:xfrm>
              <a:off x="581025" y="2867025"/>
              <a:ext cx="5029200" cy="342900"/>
            </a:xfrm>
            <a:prstGeom prst="rect">
              <a:avLst/>
            </a:prstGeom>
            <a:solidFill>
              <a:srgbClr val="FAF1D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55" name="Google Shape;1055;p27"/>
            <p:cNvCxnSpPr/>
            <p:nvPr/>
          </p:nvCxnSpPr>
          <p:spPr>
            <a:xfrm>
              <a:off x="571500" y="2867025"/>
              <a:ext cx="5048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6" name="Google Shape;1056;p27"/>
            <p:cNvCxnSpPr/>
            <p:nvPr/>
          </p:nvCxnSpPr>
          <p:spPr>
            <a:xfrm>
              <a:off x="571500" y="3209925"/>
              <a:ext cx="5048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57" name="Google Shape;1057;p27"/>
            <p:cNvSpPr txBox="1"/>
            <p:nvPr/>
          </p:nvSpPr>
          <p:spPr>
            <a:xfrm>
              <a:off x="714375" y="29432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 dirty="0" err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endParaRPr sz="723" b="1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8" name="Google Shape;1058;p27"/>
            <p:cNvSpPr txBox="1"/>
            <p:nvPr/>
          </p:nvSpPr>
          <p:spPr>
            <a:xfrm>
              <a:off x="2143125" y="2943225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90.24%</a:t>
              </a:r>
              <a:endParaRPr sz="72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9" name="Google Shape;1059;p27"/>
            <p:cNvSpPr txBox="1"/>
            <p:nvPr/>
          </p:nvSpPr>
          <p:spPr>
            <a:xfrm>
              <a:off x="2905125" y="29432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68.13%</a:t>
              </a:r>
              <a:endParaRPr sz="72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0" name="Google Shape;1060;p27"/>
            <p:cNvSpPr txBox="1"/>
            <p:nvPr/>
          </p:nvSpPr>
          <p:spPr>
            <a:xfrm>
              <a:off x="3571875" y="2943225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25.11%</a:t>
              </a:r>
              <a:endParaRPr sz="72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1" name="Google Shape;1061;p27"/>
            <p:cNvSpPr txBox="1"/>
            <p:nvPr/>
          </p:nvSpPr>
          <p:spPr>
            <a:xfrm>
              <a:off x="4143375" y="294322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36.69%</a:t>
              </a:r>
              <a:endParaRPr sz="72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2" name="Google Shape;1062;p27"/>
            <p:cNvSpPr txBox="1"/>
            <p:nvPr/>
          </p:nvSpPr>
          <p:spPr>
            <a:xfrm>
              <a:off x="4857750" y="294322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2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81.50%</a:t>
              </a:r>
              <a:endParaRPr sz="72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3" name="Google Shape;1063;p27"/>
            <p:cNvSpPr/>
            <p:nvPr/>
          </p:nvSpPr>
          <p:spPr>
            <a:xfrm>
              <a:off x="714375" y="3352800"/>
              <a:ext cx="4762500" cy="705000"/>
            </a:xfrm>
            <a:prstGeom prst="roundRect">
              <a:avLst>
                <a:gd name="adj" fmla="val 5405"/>
              </a:avLst>
            </a:prstGeom>
            <a:solidFill>
              <a:srgbClr val="F9F8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7"/>
            <p:cNvSpPr txBox="1"/>
            <p:nvPr/>
          </p:nvSpPr>
          <p:spPr>
            <a:xfrm>
              <a:off x="809625" y="3409950"/>
              <a:ext cx="4572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Key Insights:</a:t>
              </a:r>
              <a:endParaRPr sz="7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76225" algn="l" rtl="0">
                <a:spcBef>
                  <a:spcPts val="300"/>
                </a:spcBef>
                <a:spcAft>
                  <a:spcPts val="0"/>
                </a:spcAft>
                <a:buClr>
                  <a:srgbClr val="555555"/>
                </a:buClr>
                <a:buSzPts val="750"/>
                <a:buFont typeface="Inter"/>
                <a:buChar char="●"/>
              </a:pPr>
              <a:r>
                <a:rPr lang="en-GB" sz="7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XGBoost delivers the leading predictive performance across multiple critical trade-offs.</a:t>
              </a:r>
              <a:endParaRPr sz="7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76225" algn="l" rtl="0">
                <a:spcBef>
                  <a:spcPts val="300"/>
                </a:spcBef>
                <a:spcAft>
                  <a:spcPts val="300"/>
                </a:spcAft>
                <a:buClr>
                  <a:srgbClr val="555555"/>
                </a:buClr>
                <a:buSzPts val="750"/>
                <a:buFont typeface="Inter"/>
                <a:buChar char="●"/>
              </a:pPr>
              <a:r>
                <a:rPr lang="en-GB" sz="7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While Logistic Regression maintains a robust baseline, ensemble approaches yield key F1 gains.</a:t>
              </a:r>
              <a:endParaRPr sz="7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5" name="Google Shape;1065;p27"/>
          <p:cNvGrpSpPr/>
          <p:nvPr/>
        </p:nvGrpSpPr>
        <p:grpSpPr>
          <a:xfrm>
            <a:off x="5810250" y="1095375"/>
            <a:ext cx="2762400" cy="3095700"/>
            <a:chOff x="5810250" y="1095375"/>
            <a:chExt cx="2762400" cy="3095700"/>
          </a:xfrm>
        </p:grpSpPr>
        <p:sp>
          <p:nvSpPr>
            <p:cNvPr id="1066" name="Google Shape;1066;p27"/>
            <p:cNvSpPr/>
            <p:nvPr/>
          </p:nvSpPr>
          <p:spPr>
            <a:xfrm>
              <a:off x="5810250" y="1095375"/>
              <a:ext cx="2762400" cy="3095700"/>
            </a:xfrm>
            <a:prstGeom prst="roundRect">
              <a:avLst>
                <a:gd name="adj" fmla="val 2758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5810250" y="1095375"/>
              <a:ext cx="2762400" cy="342900"/>
            </a:xfrm>
            <a:prstGeom prst="roundRect">
              <a:avLst>
                <a:gd name="adj" fmla="val 22222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5810250" y="1343025"/>
              <a:ext cx="2762400" cy="95400"/>
            </a:xfrm>
            <a:prstGeom prst="rect">
              <a:avLst/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7"/>
            <p:cNvSpPr txBox="1"/>
            <p:nvPr/>
          </p:nvSpPr>
          <p:spPr>
            <a:xfrm>
              <a:off x="5953125" y="1095375"/>
              <a:ext cx="2476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 dirty="0" err="1">
                  <a:solidFill>
                    <a:srgbClr val="0F6B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</a:t>
              </a:r>
              <a:r>
                <a:rPr lang="en-GB" sz="723" b="1" dirty="0" err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Performance</a:t>
              </a:r>
              <a:r>
                <a:rPr lang="en-GB" sz="723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 Summary</a:t>
              </a:r>
              <a:endParaRPr sz="723" b="1" dirty="0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70" name="Google Shape;1070;p27"/>
            <p:cNvCxnSpPr/>
            <p:nvPr/>
          </p:nvCxnSpPr>
          <p:spPr>
            <a:xfrm>
              <a:off x="5810250" y="1438275"/>
              <a:ext cx="2762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71" name="Google Shape;1071;p27"/>
            <p:cNvGrpSpPr/>
            <p:nvPr/>
          </p:nvGrpSpPr>
          <p:grpSpPr>
            <a:xfrm>
              <a:off x="5953125" y="1571625"/>
              <a:ext cx="2476500" cy="533400"/>
              <a:chOff x="5953125" y="1571625"/>
              <a:chExt cx="2476500" cy="533400"/>
            </a:xfrm>
          </p:grpSpPr>
          <p:sp>
            <p:nvSpPr>
              <p:cNvPr id="1072" name="Google Shape;1072;p27"/>
              <p:cNvSpPr/>
              <p:nvPr/>
            </p:nvSpPr>
            <p:spPr>
              <a:xfrm>
                <a:off x="5953125" y="1571625"/>
                <a:ext cx="2476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AF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7"/>
              <p:cNvSpPr txBox="1"/>
              <p:nvPr/>
            </p:nvSpPr>
            <p:spPr>
              <a:xfrm>
                <a:off x="6381750" y="1628775"/>
                <a:ext cx="19527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BEST ACCURACY</a:t>
                </a:r>
                <a:endParaRPr sz="800" b="1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90.24% </a:t>
                </a:r>
                <a:r>
                  <a:rPr lang="en-GB" sz="800" b="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XGBoost</a:t>
                </a:r>
                <a:endParaRPr sz="14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075" name="Google Shape;1075;p27"/>
            <p:cNvGrpSpPr/>
            <p:nvPr/>
          </p:nvGrpSpPr>
          <p:grpSpPr>
            <a:xfrm>
              <a:off x="5953125" y="2200275"/>
              <a:ext cx="2476500" cy="533400"/>
              <a:chOff x="5953125" y="2200275"/>
              <a:chExt cx="2476500" cy="533400"/>
            </a:xfrm>
          </p:grpSpPr>
          <p:sp>
            <p:nvSpPr>
              <p:cNvPr id="1076" name="Google Shape;1076;p27"/>
              <p:cNvSpPr/>
              <p:nvPr/>
            </p:nvSpPr>
            <p:spPr>
              <a:xfrm>
                <a:off x="5953125" y="2200275"/>
                <a:ext cx="2476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AF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7"/>
              <p:cNvSpPr txBox="1"/>
              <p:nvPr/>
            </p:nvSpPr>
            <p:spPr>
              <a:xfrm>
                <a:off x="6381750" y="2257425"/>
                <a:ext cx="19527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BEST F1 SCORE</a:t>
                </a:r>
                <a:endParaRPr sz="800" b="1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36.69% </a:t>
                </a:r>
                <a:r>
                  <a:rPr lang="en-GB" sz="800" b="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XGBoost</a:t>
                </a:r>
                <a:endParaRPr sz="14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079" name="Google Shape;1079;p27"/>
            <p:cNvGrpSpPr/>
            <p:nvPr/>
          </p:nvGrpSpPr>
          <p:grpSpPr>
            <a:xfrm>
              <a:off x="5953125" y="2828925"/>
              <a:ext cx="2476500" cy="533400"/>
              <a:chOff x="5953125" y="2828925"/>
              <a:chExt cx="2476500" cy="533400"/>
            </a:xfrm>
          </p:grpSpPr>
          <p:sp>
            <p:nvSpPr>
              <p:cNvPr id="1080" name="Google Shape;1080;p27"/>
              <p:cNvSpPr/>
              <p:nvPr/>
            </p:nvSpPr>
            <p:spPr>
              <a:xfrm>
                <a:off x="5953125" y="2828925"/>
                <a:ext cx="2476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AF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7"/>
              <p:cNvSpPr txBox="1"/>
              <p:nvPr/>
            </p:nvSpPr>
            <p:spPr>
              <a:xfrm>
                <a:off x="6381750" y="2886075"/>
                <a:ext cx="19527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1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BEST ROC-AUC</a:t>
                </a:r>
                <a:endParaRPr sz="800" b="1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 b="1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81.50% </a:t>
                </a:r>
                <a:r>
                  <a:rPr lang="en-GB" sz="800" b="1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XGBoost</a:t>
                </a:r>
                <a:endParaRPr sz="14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1083" name="Google Shape;1083;p27"/>
            <p:cNvGrpSpPr/>
            <p:nvPr/>
          </p:nvGrpSpPr>
          <p:grpSpPr>
            <a:xfrm>
              <a:off x="5953125" y="3457575"/>
              <a:ext cx="2476500" cy="590700"/>
              <a:chOff x="5953125" y="3457575"/>
              <a:chExt cx="2476500" cy="590700"/>
            </a:xfrm>
          </p:grpSpPr>
          <p:sp>
            <p:nvSpPr>
              <p:cNvPr id="1084" name="Google Shape;1084;p27"/>
              <p:cNvSpPr/>
              <p:nvPr/>
            </p:nvSpPr>
            <p:spPr>
              <a:xfrm>
                <a:off x="5953125" y="3457575"/>
                <a:ext cx="2476500" cy="590700"/>
              </a:xfrm>
              <a:prstGeom prst="roundRect">
                <a:avLst>
                  <a:gd name="adj" fmla="val 9677"/>
                </a:avLst>
              </a:prstGeom>
              <a:solidFill>
                <a:srgbClr val="0F6B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7"/>
              <p:cNvSpPr txBox="1"/>
              <p:nvPr/>
            </p:nvSpPr>
            <p:spPr>
              <a:xfrm>
                <a:off x="6381750" y="3514725"/>
                <a:ext cx="1952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1">
                    <a:solidFill>
                      <a:srgbClr val="D4AF37"/>
                    </a:solidFill>
                    <a:latin typeface="Inter"/>
                    <a:ea typeface="Inter"/>
                    <a:cs typeface="Inter"/>
                    <a:sym typeface="Inter"/>
                  </a:rPr>
                  <a:t>BEST OVERALL MODEL</a:t>
                </a:r>
                <a:endParaRPr sz="800" b="1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XGBoost Ensemble</a:t>
                </a:r>
                <a:endParaRPr sz="1200" b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grpSp>
        <p:nvGrpSpPr>
          <p:cNvPr id="1087" name="Google Shape;1087;p27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sp>
          <p:nvSpPr>
            <p:cNvPr id="1088" name="Google Shape;1088;p27"/>
            <p:cNvSpPr/>
            <p:nvPr/>
          </p:nvSpPr>
          <p:spPr>
            <a:xfrm>
              <a:off x="571500" y="4333875"/>
              <a:ext cx="8001000" cy="533400"/>
            </a:xfrm>
            <a:prstGeom prst="roundRect">
              <a:avLst>
                <a:gd name="adj" fmla="val 10714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714375" y="4429125"/>
              <a:ext cx="38100" cy="3429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7"/>
            <p:cNvSpPr txBox="1"/>
            <p:nvPr/>
          </p:nvSpPr>
          <p:spPr>
            <a:xfrm>
              <a:off x="857250" y="4333875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1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DEPLOYMENT DECISION STRATEGY </a:t>
              </a:r>
              <a:r>
                <a:rPr lang="en-GB" sz="950" b="1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"Model selection was based on multiple evaluation metrics rather than accuracy alone, ensuring better generalization and business performance."</a:t>
              </a:r>
              <a:endParaRPr sz="750" b="1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8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8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8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8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20" b="1">
                <a:solidFill>
                  <a:srgbClr val="0F6B4A"/>
                </a:solidFill>
                <a:latin typeface="Arial"/>
                <a:ea typeface="Arial"/>
                <a:cs typeface="Arial"/>
                <a:sym typeface="Arial"/>
              </a:rPr>
              <a:t>FINANCIAL ANALYTICS</a:t>
            </a:r>
            <a:endParaRPr sz="620" b="1">
              <a:solidFill>
                <a:srgbClr val="0F6B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28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Business Impact &amp; Key Insights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01" name="Google Shape;1101;p28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02" name="Google Shape;1102;p28"/>
          <p:cNvGrpSpPr/>
          <p:nvPr/>
        </p:nvGrpSpPr>
        <p:grpSpPr>
          <a:xfrm>
            <a:off x="571500" y="4381500"/>
            <a:ext cx="8001000" cy="533400"/>
            <a:chOff x="571500" y="4381500"/>
            <a:chExt cx="8001000" cy="533400"/>
          </a:xfrm>
        </p:grpSpPr>
        <p:sp>
          <p:nvSpPr>
            <p:cNvPr id="1103" name="Google Shape;1103;p28"/>
            <p:cNvSpPr/>
            <p:nvPr/>
          </p:nvSpPr>
          <p:spPr>
            <a:xfrm>
              <a:off x="571500" y="4381500"/>
              <a:ext cx="8001000" cy="533400"/>
            </a:xfrm>
            <a:prstGeom prst="roundRect">
              <a:avLst>
                <a:gd name="adj" fmla="val 10714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8"/>
            <p:cNvSpPr/>
            <p:nvPr/>
          </p:nvSpPr>
          <p:spPr>
            <a:xfrm>
              <a:off x="714375" y="4476750"/>
              <a:ext cx="38100" cy="3429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8"/>
            <p:cNvSpPr txBox="1"/>
            <p:nvPr/>
          </p:nvSpPr>
          <p:spPr>
            <a:xfrm>
              <a:off x="857250" y="4381500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94" b="1">
                  <a:solidFill>
                    <a:srgbClr val="D4AF37"/>
                  </a:solidFill>
                  <a:latin typeface="Arial"/>
                  <a:ea typeface="Arial"/>
                  <a:cs typeface="Arial"/>
                  <a:sym typeface="Arial"/>
                </a:rPr>
                <a:t>EXECUTIVE TAKEAWAY</a:t>
              </a:r>
              <a:endParaRPr sz="694" b="1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lang="en-GB" sz="95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"Machine Learning transforms historical customer data into actionable business decisions."</a:t>
              </a:r>
              <a:endParaRPr sz="95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06" name="Google Shape;1106;p28"/>
          <p:cNvGrpSpPr/>
          <p:nvPr/>
        </p:nvGrpSpPr>
        <p:grpSpPr>
          <a:xfrm>
            <a:off x="571500" y="1047750"/>
            <a:ext cx="3905400" cy="3190800"/>
            <a:chOff x="571500" y="1047750"/>
            <a:chExt cx="3905400" cy="3190800"/>
          </a:xfrm>
        </p:grpSpPr>
        <p:sp>
          <p:nvSpPr>
            <p:cNvPr id="1107" name="Google Shape;1107;p28"/>
            <p:cNvSpPr/>
            <p:nvPr/>
          </p:nvSpPr>
          <p:spPr>
            <a:xfrm>
              <a:off x="571500" y="1047750"/>
              <a:ext cx="3905400" cy="3190800"/>
            </a:xfrm>
            <a:prstGeom prst="roundRect">
              <a:avLst>
                <a:gd name="adj" fmla="val 2388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8"/>
            <p:cNvSpPr/>
            <p:nvPr/>
          </p:nvSpPr>
          <p:spPr>
            <a:xfrm>
              <a:off x="571500" y="1047750"/>
              <a:ext cx="3905400" cy="342900"/>
            </a:xfrm>
            <a:prstGeom prst="roundRect">
              <a:avLst>
                <a:gd name="adj" fmla="val 22222"/>
              </a:avLst>
            </a:prstGeom>
            <a:solidFill>
              <a:srgbClr val="E6EFE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8"/>
            <p:cNvSpPr txBox="1"/>
            <p:nvPr/>
          </p:nvSpPr>
          <p:spPr>
            <a:xfrm>
              <a:off x="714375" y="1047750"/>
              <a:ext cx="3619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Enterprise ML Business Value Loop</a:t>
              </a:r>
              <a:endParaRPr sz="105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110" name="Google Shape;1110;p28"/>
            <p:cNvGrpSpPr/>
            <p:nvPr/>
          </p:nvGrpSpPr>
          <p:grpSpPr>
            <a:xfrm>
              <a:off x="762000" y="1524000"/>
              <a:ext cx="1524000" cy="400200"/>
              <a:chOff x="762000" y="1524000"/>
              <a:chExt cx="1524000" cy="400200"/>
            </a:xfrm>
          </p:grpSpPr>
          <p:sp>
            <p:nvSpPr>
              <p:cNvPr id="1111" name="Google Shape;1111;p28"/>
              <p:cNvSpPr/>
              <p:nvPr/>
            </p:nvSpPr>
            <p:spPr>
              <a:xfrm>
                <a:off x="762000" y="1524000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A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8"/>
              <p:cNvSpPr txBox="1"/>
              <p:nvPr/>
            </p:nvSpPr>
            <p:spPr>
              <a:xfrm>
                <a:off x="809625" y="152400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1. Customer Database</a:t>
                </a:r>
                <a:endParaRPr sz="7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66666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Historical Banking Records</a:t>
                </a:r>
                <a:endParaRPr sz="600" b="0" dirty="0">
                  <a:solidFill>
                    <a:srgbClr val="66666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14" name="Google Shape;1114;p28"/>
            <p:cNvGrpSpPr/>
            <p:nvPr/>
          </p:nvGrpSpPr>
          <p:grpSpPr>
            <a:xfrm>
              <a:off x="762000" y="2066925"/>
              <a:ext cx="1524000" cy="400200"/>
              <a:chOff x="762000" y="2066925"/>
              <a:chExt cx="1524000" cy="400200"/>
            </a:xfrm>
          </p:grpSpPr>
          <p:sp>
            <p:nvSpPr>
              <p:cNvPr id="1115" name="Google Shape;1115;p28"/>
              <p:cNvSpPr/>
              <p:nvPr/>
            </p:nvSpPr>
            <p:spPr>
              <a:xfrm>
                <a:off x="762000" y="2066925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0F6B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8"/>
              <p:cNvSpPr txBox="1"/>
              <p:nvPr/>
            </p:nvSpPr>
            <p:spPr>
              <a:xfrm>
                <a:off x="809625" y="2066925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2. </a:t>
                </a:r>
                <a:r>
                  <a:rPr lang="en-GB" sz="750" b="1" dirty="0" err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XGBoost</a:t>
                </a:r>
                <a:r>
                  <a:rPr lang="en-GB" sz="7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 Model</a:t>
                </a:r>
                <a:endParaRPr sz="750" b="1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E6EFE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ML Pipeline Analysis</a:t>
                </a:r>
                <a:endParaRPr sz="600" b="0" dirty="0">
                  <a:solidFill>
                    <a:srgbClr val="E6EFE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18" name="Google Shape;1118;p28"/>
            <p:cNvGrpSpPr/>
            <p:nvPr/>
          </p:nvGrpSpPr>
          <p:grpSpPr>
            <a:xfrm>
              <a:off x="762000" y="2609850"/>
              <a:ext cx="1524000" cy="400200"/>
              <a:chOff x="762000" y="2609850"/>
              <a:chExt cx="1524000" cy="400200"/>
            </a:xfrm>
          </p:grpSpPr>
          <p:sp>
            <p:nvSpPr>
              <p:cNvPr id="1119" name="Google Shape;1119;p28"/>
              <p:cNvSpPr/>
              <p:nvPr/>
            </p:nvSpPr>
            <p:spPr>
              <a:xfrm>
                <a:off x="762000" y="2609850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A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8"/>
              <p:cNvSpPr txBox="1"/>
              <p:nvPr/>
            </p:nvSpPr>
            <p:spPr>
              <a:xfrm>
                <a:off x="809625" y="260985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3. Selected Customers</a:t>
                </a:r>
                <a:endParaRPr sz="7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66666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High-Propensity Cohorts</a:t>
                </a:r>
                <a:endParaRPr sz="600" b="0" dirty="0">
                  <a:solidFill>
                    <a:srgbClr val="66666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22" name="Google Shape;1122;p28"/>
            <p:cNvGrpSpPr/>
            <p:nvPr/>
          </p:nvGrpSpPr>
          <p:grpSpPr>
            <a:xfrm>
              <a:off x="2514600" y="2609850"/>
              <a:ext cx="1524000" cy="400200"/>
              <a:chOff x="2514600" y="2609850"/>
              <a:chExt cx="1524000" cy="400200"/>
            </a:xfrm>
          </p:grpSpPr>
          <p:sp>
            <p:nvSpPr>
              <p:cNvPr id="1123" name="Google Shape;1123;p28"/>
              <p:cNvSpPr/>
              <p:nvPr/>
            </p:nvSpPr>
            <p:spPr>
              <a:xfrm>
                <a:off x="2514600" y="2609850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AF8F6"/>
              </a:solidFill>
              <a:ln w="14300" cap="flat" cmpd="sng">
                <a:solidFill>
                  <a:srgbClr val="D4AF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8"/>
              <p:cNvSpPr txBox="1"/>
              <p:nvPr/>
            </p:nvSpPr>
            <p:spPr>
              <a:xfrm>
                <a:off x="2562225" y="260985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6. Business Growth</a:t>
                </a:r>
                <a:endParaRPr sz="7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Value Realization</a:t>
                </a:r>
                <a:endParaRPr sz="60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6" name="Google Shape;1126;p28"/>
            <p:cNvGrpSpPr/>
            <p:nvPr/>
          </p:nvGrpSpPr>
          <p:grpSpPr>
            <a:xfrm>
              <a:off x="2514600" y="2066925"/>
              <a:ext cx="1524000" cy="400200"/>
              <a:chOff x="2514600" y="2066925"/>
              <a:chExt cx="1524000" cy="400200"/>
            </a:xfrm>
          </p:grpSpPr>
          <p:sp>
            <p:nvSpPr>
              <p:cNvPr id="1127" name="Google Shape;1127;p28"/>
              <p:cNvSpPr/>
              <p:nvPr/>
            </p:nvSpPr>
            <p:spPr>
              <a:xfrm>
                <a:off x="2514600" y="2066925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A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8"/>
              <p:cNvSpPr txBox="1"/>
              <p:nvPr/>
            </p:nvSpPr>
            <p:spPr>
              <a:xfrm>
                <a:off x="2562225" y="2066925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5. Subscription Success</a:t>
                </a:r>
                <a:endParaRPr sz="7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66666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Higher Conversion Rates</a:t>
                </a:r>
                <a:endParaRPr sz="600" b="0" dirty="0">
                  <a:solidFill>
                    <a:srgbClr val="66666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30" name="Google Shape;1130;p28"/>
            <p:cNvGrpSpPr/>
            <p:nvPr/>
          </p:nvGrpSpPr>
          <p:grpSpPr>
            <a:xfrm>
              <a:off x="2514600" y="1524000"/>
              <a:ext cx="1524000" cy="400200"/>
              <a:chOff x="2514600" y="1524000"/>
              <a:chExt cx="1524000" cy="400200"/>
            </a:xfrm>
          </p:grpSpPr>
          <p:sp>
            <p:nvSpPr>
              <p:cNvPr id="1131" name="Google Shape;1131;p28"/>
              <p:cNvSpPr/>
              <p:nvPr/>
            </p:nvSpPr>
            <p:spPr>
              <a:xfrm>
                <a:off x="2514600" y="1524000"/>
                <a:ext cx="1524000" cy="400200"/>
              </a:xfrm>
              <a:prstGeom prst="roundRect">
                <a:avLst>
                  <a:gd name="adj" fmla="val 14285"/>
                </a:avLst>
              </a:prstGeom>
              <a:solidFill>
                <a:srgbClr val="FAF8F6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8"/>
              <p:cNvSpPr txBox="1"/>
              <p:nvPr/>
            </p:nvSpPr>
            <p:spPr>
              <a:xfrm>
                <a:off x="2562225" y="1524000"/>
                <a:ext cx="14289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4. Targeted Campaign</a:t>
                </a:r>
                <a:endParaRPr sz="7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00" b="0" dirty="0">
                    <a:solidFill>
                      <a:srgbClr val="66666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Marketing Team Activation</a:t>
                </a:r>
                <a:endParaRPr sz="600" b="0" dirty="0">
                  <a:solidFill>
                    <a:srgbClr val="66666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1134" name="Google Shape;1134;p28"/>
            <p:cNvSpPr/>
            <p:nvPr/>
          </p:nvSpPr>
          <p:spPr>
            <a:xfrm>
              <a:off x="762000" y="3619500"/>
              <a:ext cx="3524400" cy="438300"/>
            </a:xfrm>
            <a:prstGeom prst="roundRect">
              <a:avLst>
                <a:gd name="adj" fmla="val 13043"/>
              </a:avLst>
            </a:prstGeom>
            <a:solidFill>
              <a:srgbClr val="FAF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8"/>
            <p:cNvSpPr txBox="1"/>
            <p:nvPr/>
          </p:nvSpPr>
          <p:spPr>
            <a:xfrm>
              <a:off x="857250" y="3619500"/>
              <a:ext cx="3333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 b="1">
                  <a:solidFill>
                    <a:srgbClr val="D4AF37"/>
                  </a:solidFill>
                  <a:latin typeface="Georgia"/>
                  <a:ea typeface="Georgia"/>
                  <a:cs typeface="Georgia"/>
                  <a:sym typeface="Georgia"/>
                </a:rPr>
                <a:t>Decision Loop Context:</a:t>
              </a:r>
              <a:r>
                <a:rPr lang="en-GB" sz="6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Integrating data engineering with automated model scoring aligns performance analytics directly to targeted outreach pipelines.</a:t>
              </a:r>
              <a:endParaRPr sz="650" b="1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36" name="Google Shape;1136;p28"/>
          <p:cNvGrpSpPr/>
          <p:nvPr/>
        </p:nvGrpSpPr>
        <p:grpSpPr>
          <a:xfrm>
            <a:off x="4667250" y="1047750"/>
            <a:ext cx="3905175" cy="3181500"/>
            <a:chOff x="4667250" y="1047750"/>
            <a:chExt cx="3905175" cy="3181500"/>
          </a:xfrm>
        </p:grpSpPr>
        <p:grpSp>
          <p:nvGrpSpPr>
            <p:cNvPr id="1137" name="Google Shape;1137;p28"/>
            <p:cNvGrpSpPr/>
            <p:nvPr/>
          </p:nvGrpSpPr>
          <p:grpSpPr>
            <a:xfrm>
              <a:off x="4667250" y="1047750"/>
              <a:ext cx="1857300" cy="990600"/>
              <a:chOff x="4667250" y="1047750"/>
              <a:chExt cx="1857300" cy="990600"/>
            </a:xfrm>
          </p:grpSpPr>
          <p:sp>
            <p:nvSpPr>
              <p:cNvPr id="1138" name="Google Shape;1138;p28"/>
              <p:cNvSpPr/>
              <p:nvPr/>
            </p:nvSpPr>
            <p:spPr>
              <a:xfrm>
                <a:off x="4667250" y="1047750"/>
                <a:ext cx="18573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4667250" y="104775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8"/>
              <p:cNvSpPr txBox="1"/>
              <p:nvPr/>
            </p:nvSpPr>
            <p:spPr>
              <a:xfrm>
                <a:off x="4762500" y="104775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Reduced Marketing Cost</a:t>
                </a:r>
                <a:endParaRPr sz="7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41" name="Google Shape;1141;p28"/>
              <p:cNvSpPr txBox="1"/>
              <p:nvPr/>
            </p:nvSpPr>
            <p:spPr>
              <a:xfrm>
                <a:off x="4762500" y="1362075"/>
                <a:ext cx="16668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Highly Optimized Spend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Target only potential customers instead of executing mass campaigns. This minimizes visual noise and avoids budget leakage.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2" name="Google Shape;1142;p28"/>
            <p:cNvGrpSpPr/>
            <p:nvPr/>
          </p:nvGrpSpPr>
          <p:grpSpPr>
            <a:xfrm>
              <a:off x="6715125" y="1047750"/>
              <a:ext cx="1857300" cy="990600"/>
              <a:chOff x="6715125" y="1047750"/>
              <a:chExt cx="1857300" cy="990600"/>
            </a:xfrm>
          </p:grpSpPr>
          <p:sp>
            <p:nvSpPr>
              <p:cNvPr id="1143" name="Google Shape;1143;p28"/>
              <p:cNvSpPr/>
              <p:nvPr/>
            </p:nvSpPr>
            <p:spPr>
              <a:xfrm>
                <a:off x="6715125" y="1047750"/>
                <a:ext cx="18573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6715125" y="104775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8"/>
              <p:cNvSpPr txBox="1"/>
              <p:nvPr/>
            </p:nvSpPr>
            <p:spPr>
              <a:xfrm>
                <a:off x="6810375" y="104775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94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Improved Campaign Efficiency</a:t>
                </a:r>
                <a:endParaRPr sz="694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46" name="Google Shape;1146;p28"/>
              <p:cNvSpPr txBox="1"/>
              <p:nvPr/>
            </p:nvSpPr>
            <p:spPr>
              <a:xfrm>
                <a:off x="6810375" y="1362075"/>
                <a:ext cx="16668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Shorter Conversion Cycles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Focus marketing resources on customers with the highest propensity to subscribe, maximizing team velocity and response rates.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28"/>
            <p:cNvGrpSpPr/>
            <p:nvPr/>
          </p:nvGrpSpPr>
          <p:grpSpPr>
            <a:xfrm>
              <a:off x="4667250" y="2133600"/>
              <a:ext cx="1857300" cy="990600"/>
              <a:chOff x="4667250" y="2133600"/>
              <a:chExt cx="1857300" cy="990600"/>
            </a:xfrm>
          </p:grpSpPr>
          <p:sp>
            <p:nvSpPr>
              <p:cNvPr id="1148" name="Google Shape;1148;p28"/>
              <p:cNvSpPr/>
              <p:nvPr/>
            </p:nvSpPr>
            <p:spPr>
              <a:xfrm>
                <a:off x="4667250" y="2133600"/>
                <a:ext cx="18573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4667250" y="213360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8"/>
              <p:cNvSpPr txBox="1"/>
              <p:nvPr/>
            </p:nvSpPr>
            <p:spPr>
              <a:xfrm>
                <a:off x="4762500" y="213360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Better Customer Targeting</a:t>
                </a:r>
                <a:endParaRPr sz="7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51" name="Google Shape;1151;p28"/>
              <p:cNvSpPr txBox="1"/>
              <p:nvPr/>
            </p:nvSpPr>
            <p:spPr>
              <a:xfrm>
                <a:off x="4762500" y="2447925"/>
                <a:ext cx="16668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Behavioral Intelligence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Analyze historical customer behavior and financial markers to tailor campaigns and create highly personalized financial offers.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2" name="Google Shape;1152;p28"/>
            <p:cNvGrpSpPr/>
            <p:nvPr/>
          </p:nvGrpSpPr>
          <p:grpSpPr>
            <a:xfrm>
              <a:off x="6715125" y="2133600"/>
              <a:ext cx="1857300" cy="990600"/>
              <a:chOff x="6715125" y="2133600"/>
              <a:chExt cx="1857300" cy="990600"/>
            </a:xfrm>
          </p:grpSpPr>
          <p:sp>
            <p:nvSpPr>
              <p:cNvPr id="1153" name="Google Shape;1153;p28"/>
              <p:cNvSpPr/>
              <p:nvPr/>
            </p:nvSpPr>
            <p:spPr>
              <a:xfrm>
                <a:off x="6715125" y="2133600"/>
                <a:ext cx="1857300" cy="9906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6715125" y="213360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8"/>
              <p:cNvSpPr txBox="1"/>
              <p:nvPr/>
            </p:nvSpPr>
            <p:spPr>
              <a:xfrm>
                <a:off x="6810375" y="213360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Data-Driven Decisions</a:t>
                </a:r>
                <a:endParaRPr sz="7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56" name="Google Shape;1156;p28"/>
              <p:cNvSpPr txBox="1"/>
              <p:nvPr/>
            </p:nvSpPr>
            <p:spPr>
              <a:xfrm>
                <a:off x="6810375" y="2447925"/>
                <a:ext cx="16668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Empirical Framework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Support key product and marketing strategy deployment using transparent Machine Learning predictions and analytics.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7" name="Google Shape;1157;p28"/>
            <p:cNvGrpSpPr/>
            <p:nvPr/>
          </p:nvGrpSpPr>
          <p:grpSpPr>
            <a:xfrm>
              <a:off x="4667250" y="3219450"/>
              <a:ext cx="1857300" cy="1009800"/>
              <a:chOff x="4667250" y="3219450"/>
              <a:chExt cx="1857300" cy="1009800"/>
            </a:xfrm>
          </p:grpSpPr>
          <p:sp>
            <p:nvSpPr>
              <p:cNvPr id="1158" name="Google Shape;1158;p28"/>
              <p:cNvSpPr/>
              <p:nvPr/>
            </p:nvSpPr>
            <p:spPr>
              <a:xfrm>
                <a:off x="4667250" y="3219450"/>
                <a:ext cx="18573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4667250" y="321945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8"/>
              <p:cNvSpPr txBox="1"/>
              <p:nvPr/>
            </p:nvSpPr>
            <p:spPr>
              <a:xfrm>
                <a:off x="4762500" y="321945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Higher Conversion Rate</a:t>
                </a:r>
                <a:endParaRPr sz="7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61" name="Google Shape;1161;p28"/>
              <p:cNvSpPr txBox="1"/>
              <p:nvPr/>
            </p:nvSpPr>
            <p:spPr>
              <a:xfrm>
                <a:off x="4762500" y="3533775"/>
                <a:ext cx="16668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Maximized Yield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Significantly increase the probability of successful subscriptions by matching products with suitable customer profiles.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2" name="Google Shape;1162;p28"/>
            <p:cNvGrpSpPr/>
            <p:nvPr/>
          </p:nvGrpSpPr>
          <p:grpSpPr>
            <a:xfrm>
              <a:off x="6715125" y="3219450"/>
              <a:ext cx="1857300" cy="1009800"/>
              <a:chOff x="6715125" y="3219450"/>
              <a:chExt cx="1857300" cy="1009800"/>
            </a:xfrm>
          </p:grpSpPr>
          <p:sp>
            <p:nvSpPr>
              <p:cNvPr id="1163" name="Google Shape;1163;p28"/>
              <p:cNvSpPr/>
              <p:nvPr/>
            </p:nvSpPr>
            <p:spPr>
              <a:xfrm>
                <a:off x="6715125" y="3219450"/>
                <a:ext cx="18573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FFFFF"/>
              </a:solidFill>
              <a:ln w="9525" cap="flat" cmpd="sng">
                <a:solidFill>
                  <a:srgbClr val="E2E0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6715125" y="3219450"/>
                <a:ext cx="18573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6EFE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8"/>
              <p:cNvSpPr txBox="1"/>
              <p:nvPr/>
            </p:nvSpPr>
            <p:spPr>
              <a:xfrm>
                <a:off x="6810375" y="321945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 dirty="0">
                    <a:solidFill>
                      <a:srgbClr val="0F6B4A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Business Value</a:t>
                </a:r>
                <a:endParaRPr sz="75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166" name="Google Shape;1166;p28"/>
              <p:cNvSpPr txBox="1"/>
              <p:nvPr/>
            </p:nvSpPr>
            <p:spPr>
              <a:xfrm>
                <a:off x="6810375" y="3533775"/>
                <a:ext cx="16668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 b="1">
                    <a:solidFill>
                      <a:srgbClr val="0F6B4A"/>
                    </a:solidFill>
                    <a:latin typeface="Arial"/>
                    <a:ea typeface="Arial"/>
                    <a:cs typeface="Arial"/>
                    <a:sym typeface="Arial"/>
                  </a:rPr>
                  <a:t>Bottom-Line Growth</a:t>
                </a:r>
                <a:endParaRPr sz="750" b="1">
                  <a:solidFill>
                    <a:srgbClr val="0F6B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680" b="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Optimize resource allocation, lower customer acquisition costs (CAC), and maximize return on investment (ROI).</a:t>
                </a:r>
                <a:endParaRPr sz="680" b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29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29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4" name="Google Shape;117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29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rPr>
              <a:t>FINANCIAL ANALYTICS</a:t>
            </a:r>
            <a:endParaRPr sz="750" b="1">
              <a:solidFill>
                <a:srgbClr val="0F6B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6" name="Google Shape;1176;p29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Challenges Faced &amp; Solutions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77" name="Google Shape;1177;p29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78" name="Google Shape;1178;p29"/>
          <p:cNvGrpSpPr/>
          <p:nvPr/>
        </p:nvGrpSpPr>
        <p:grpSpPr>
          <a:xfrm>
            <a:off x="566738" y="1028700"/>
            <a:ext cx="3914700" cy="3128888"/>
            <a:chOff x="566738" y="1028700"/>
            <a:chExt cx="3914700" cy="3128888"/>
          </a:xfrm>
        </p:grpSpPr>
        <p:sp>
          <p:nvSpPr>
            <p:cNvPr id="1179" name="Google Shape;1179;p29"/>
            <p:cNvSpPr txBox="1"/>
            <p:nvPr/>
          </p:nvSpPr>
          <p:spPr>
            <a:xfrm>
              <a:off x="571500" y="1028700"/>
              <a:ext cx="3905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B71C1C"/>
                  </a:solidFill>
                  <a:latin typeface="Georgia"/>
                  <a:ea typeface="Georgia"/>
                  <a:cs typeface="Georgia"/>
                  <a:sym typeface="Georgia"/>
                </a:rPr>
                <a:t>Challenges Faced</a:t>
              </a:r>
              <a:endParaRPr sz="1200" b="1">
                <a:solidFill>
                  <a:srgbClr val="B71C1C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180" name="Google Shape;1180;p29"/>
            <p:cNvGrpSpPr/>
            <p:nvPr/>
          </p:nvGrpSpPr>
          <p:grpSpPr>
            <a:xfrm>
              <a:off x="566738" y="1347788"/>
              <a:ext cx="3914700" cy="523800"/>
              <a:chOff x="566738" y="1347788"/>
              <a:chExt cx="3914700" cy="523800"/>
            </a:xfrm>
          </p:grpSpPr>
          <p:pic>
            <p:nvPicPr>
              <p:cNvPr id="1181" name="Google Shape;1181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66738" y="1347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3" name="Google Shape;1183;p29"/>
              <p:cNvSpPr txBox="1"/>
              <p:nvPr/>
            </p:nvSpPr>
            <p:spPr>
              <a:xfrm>
                <a:off x="1066800" y="1390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B71C1C"/>
                    </a:solidFill>
                    <a:latin typeface="Inter"/>
                    <a:ea typeface="Inter"/>
                    <a:cs typeface="Inter"/>
                    <a:sym typeface="Inter"/>
                  </a:rPr>
                  <a:t>Challenge 1: Categorical Data</a:t>
                </a:r>
                <a:endParaRPr sz="850" b="1">
                  <a:solidFill>
                    <a:srgbClr val="B7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Machine Learning algorithms cannot process text values directly.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84" name="Google Shape;1184;p29"/>
            <p:cNvGrpSpPr/>
            <p:nvPr/>
          </p:nvGrpSpPr>
          <p:grpSpPr>
            <a:xfrm>
              <a:off x="566738" y="1919288"/>
              <a:ext cx="3914700" cy="523800"/>
              <a:chOff x="566738" y="1919288"/>
              <a:chExt cx="3914700" cy="523800"/>
            </a:xfrm>
          </p:grpSpPr>
          <p:pic>
            <p:nvPicPr>
              <p:cNvPr id="1185" name="Google Shape;1185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66738" y="19192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7" name="Google Shape;1187;p29"/>
              <p:cNvSpPr txBox="1"/>
              <p:nvPr/>
            </p:nvSpPr>
            <p:spPr>
              <a:xfrm>
                <a:off x="1066800" y="19621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B71C1C"/>
                    </a:solidFill>
                    <a:latin typeface="Inter"/>
                    <a:ea typeface="Inter"/>
                    <a:cs typeface="Inter"/>
                    <a:sym typeface="Inter"/>
                  </a:rPr>
                  <a:t>Challenge 2: Different Feature Scales</a:t>
                </a:r>
                <a:endParaRPr sz="850" b="1">
                  <a:solidFill>
                    <a:srgbClr val="B7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Numerical features had different value ranges.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88" name="Google Shape;1188;p29"/>
            <p:cNvGrpSpPr/>
            <p:nvPr/>
          </p:nvGrpSpPr>
          <p:grpSpPr>
            <a:xfrm>
              <a:off x="566738" y="2490788"/>
              <a:ext cx="3914700" cy="523800"/>
              <a:chOff x="566738" y="2490788"/>
              <a:chExt cx="3914700" cy="523800"/>
            </a:xfrm>
          </p:grpSpPr>
          <p:pic>
            <p:nvPicPr>
              <p:cNvPr id="1189" name="Google Shape;1189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66738" y="2490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1" name="Google Shape;1191;p29"/>
              <p:cNvSpPr txBox="1"/>
              <p:nvPr/>
            </p:nvSpPr>
            <p:spPr>
              <a:xfrm>
                <a:off x="1066800" y="2533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B71C1C"/>
                    </a:solidFill>
                    <a:latin typeface="Inter"/>
                    <a:ea typeface="Inter"/>
                    <a:cs typeface="Inter"/>
                    <a:sym typeface="Inter"/>
                  </a:rPr>
                  <a:t>Challenge 3: Model Selection</a:t>
                </a:r>
                <a:endParaRPr sz="850" b="1">
                  <a:solidFill>
                    <a:srgbClr val="B7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Choosing the most suitable algorithm among multiple models.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92" name="Google Shape;1192;p29"/>
            <p:cNvGrpSpPr/>
            <p:nvPr/>
          </p:nvGrpSpPr>
          <p:grpSpPr>
            <a:xfrm>
              <a:off x="566738" y="3062288"/>
              <a:ext cx="3914700" cy="523800"/>
              <a:chOff x="566738" y="3062288"/>
              <a:chExt cx="3914700" cy="523800"/>
            </a:xfrm>
          </p:grpSpPr>
          <p:pic>
            <p:nvPicPr>
              <p:cNvPr id="1193" name="Google Shape;1193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66738" y="30622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5" name="Google Shape;1195;p29"/>
              <p:cNvSpPr txBox="1"/>
              <p:nvPr/>
            </p:nvSpPr>
            <p:spPr>
              <a:xfrm>
                <a:off x="1066800" y="31051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 dirty="0">
                    <a:solidFill>
                      <a:srgbClr val="B71C1C"/>
                    </a:solidFill>
                    <a:latin typeface="Inter"/>
                    <a:ea typeface="Inter"/>
                    <a:cs typeface="Inter"/>
                    <a:sym typeface="Inter"/>
                  </a:rPr>
                  <a:t>Challenge 4: Class Imbalance</a:t>
                </a:r>
                <a:endParaRPr sz="850" b="1" dirty="0">
                  <a:solidFill>
                    <a:srgbClr val="B7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 dirty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Most customers did not subscribe to the term deposit.</a:t>
                </a:r>
                <a:endParaRPr sz="75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96" name="Google Shape;1196;p29"/>
            <p:cNvGrpSpPr/>
            <p:nvPr/>
          </p:nvGrpSpPr>
          <p:grpSpPr>
            <a:xfrm>
              <a:off x="566738" y="3633788"/>
              <a:ext cx="3914700" cy="523800"/>
              <a:chOff x="566738" y="3633788"/>
              <a:chExt cx="3914700" cy="523800"/>
            </a:xfrm>
          </p:grpSpPr>
          <p:pic>
            <p:nvPicPr>
              <p:cNvPr id="1197" name="Google Shape;1197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66738" y="3633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9" name="Google Shape;1199;p29"/>
              <p:cNvSpPr txBox="1"/>
              <p:nvPr/>
            </p:nvSpPr>
            <p:spPr>
              <a:xfrm>
                <a:off x="1066800" y="3676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B71C1C"/>
                    </a:solidFill>
                    <a:latin typeface="Inter"/>
                    <a:ea typeface="Inter"/>
                    <a:cs typeface="Inter"/>
                    <a:sym typeface="Inter"/>
                  </a:rPr>
                  <a:t>Challenge 5: Model Evaluation</a:t>
                </a:r>
                <a:endParaRPr sz="850" b="1">
                  <a:solidFill>
                    <a:srgbClr val="B7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Accuracy alone was not sufficient to compare models.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1200" name="Google Shape;1200;p29"/>
          <p:cNvCxnSpPr/>
          <p:nvPr/>
        </p:nvCxnSpPr>
        <p:spPr>
          <a:xfrm>
            <a:off x="4572000" y="1047750"/>
            <a:ext cx="0" cy="31053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01" name="Google Shape;1201;p29"/>
          <p:cNvGrpSpPr/>
          <p:nvPr/>
        </p:nvGrpSpPr>
        <p:grpSpPr>
          <a:xfrm>
            <a:off x="4757738" y="1028700"/>
            <a:ext cx="3914700" cy="3128888"/>
            <a:chOff x="4757738" y="1028700"/>
            <a:chExt cx="3914700" cy="3128888"/>
          </a:xfrm>
        </p:grpSpPr>
        <p:sp>
          <p:nvSpPr>
            <p:cNvPr id="1202" name="Google Shape;1202;p29"/>
            <p:cNvSpPr txBox="1"/>
            <p:nvPr/>
          </p:nvSpPr>
          <p:spPr>
            <a:xfrm>
              <a:off x="4762500" y="1028700"/>
              <a:ext cx="3905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Solutions Implemented</a:t>
              </a:r>
              <a:endParaRPr sz="1200" b="1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203" name="Google Shape;1203;p29"/>
            <p:cNvGrpSpPr/>
            <p:nvPr/>
          </p:nvGrpSpPr>
          <p:grpSpPr>
            <a:xfrm>
              <a:off x="4757738" y="1347788"/>
              <a:ext cx="3914700" cy="523800"/>
              <a:chOff x="4757738" y="1347788"/>
              <a:chExt cx="3914700" cy="523800"/>
            </a:xfrm>
          </p:grpSpPr>
          <p:pic>
            <p:nvPicPr>
              <p:cNvPr id="1204" name="Google Shape;1204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757738" y="1347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6" name="Google Shape;1206;p29"/>
              <p:cNvSpPr txBox="1"/>
              <p:nvPr/>
            </p:nvSpPr>
            <p:spPr>
              <a:xfrm>
                <a:off x="5257800" y="1390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Solution 1: One-Hot Encoding</a:t>
                </a:r>
                <a:endParaRPr sz="8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Applied One-Hot Encoding to convert categorical variables into numerical format.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07" name="Google Shape;1207;p29"/>
            <p:cNvGrpSpPr/>
            <p:nvPr/>
          </p:nvGrpSpPr>
          <p:grpSpPr>
            <a:xfrm>
              <a:off x="4757738" y="1919288"/>
              <a:ext cx="3914700" cy="523800"/>
              <a:chOff x="4757738" y="1919288"/>
              <a:chExt cx="3914700" cy="523800"/>
            </a:xfrm>
          </p:grpSpPr>
          <p:pic>
            <p:nvPicPr>
              <p:cNvPr id="1208" name="Google Shape;1208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757738" y="19192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0" name="Google Shape;1210;p29"/>
              <p:cNvSpPr txBox="1"/>
              <p:nvPr/>
            </p:nvSpPr>
            <p:spPr>
              <a:xfrm>
                <a:off x="5257800" y="19621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Solution 2: StandardScaler</a:t>
                </a:r>
                <a:endParaRPr sz="8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Applied StandardScaler to standardize numerical features.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1" name="Google Shape;1211;p29"/>
            <p:cNvGrpSpPr/>
            <p:nvPr/>
          </p:nvGrpSpPr>
          <p:grpSpPr>
            <a:xfrm>
              <a:off x="4757738" y="2490788"/>
              <a:ext cx="3914700" cy="523800"/>
              <a:chOff x="4757738" y="2490788"/>
              <a:chExt cx="3914700" cy="523800"/>
            </a:xfrm>
          </p:grpSpPr>
          <p:pic>
            <p:nvPicPr>
              <p:cNvPr id="1212" name="Google Shape;1212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757738" y="2490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4" name="Google Shape;1214;p29"/>
              <p:cNvSpPr txBox="1"/>
              <p:nvPr/>
            </p:nvSpPr>
            <p:spPr>
              <a:xfrm>
                <a:off x="5257800" y="2533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Solution 3: Multi-Model Benchmarking</a:t>
                </a:r>
                <a:endParaRPr sz="8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Built and compared four Machine Learning models.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5" name="Google Shape;1215;p29"/>
            <p:cNvGrpSpPr/>
            <p:nvPr/>
          </p:nvGrpSpPr>
          <p:grpSpPr>
            <a:xfrm>
              <a:off x="4757738" y="3062288"/>
              <a:ext cx="3914700" cy="523800"/>
              <a:chOff x="4757738" y="3062288"/>
              <a:chExt cx="3914700" cy="523800"/>
            </a:xfrm>
          </p:grpSpPr>
          <p:pic>
            <p:nvPicPr>
              <p:cNvPr id="1216" name="Google Shape;1216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757738" y="30622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8" name="Google Shape;1218;p29"/>
              <p:cNvSpPr txBox="1"/>
              <p:nvPr/>
            </p:nvSpPr>
            <p:spPr>
              <a:xfrm>
                <a:off x="5257800" y="31051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 dirty="0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Solution 4: Comprehensive Metrics</a:t>
                </a:r>
                <a:endParaRPr sz="85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 dirty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Evaluated model performance using Precision, Recall, F1 Score, and ROC-AUC.</a:t>
                </a:r>
                <a:endParaRPr sz="75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9" name="Google Shape;1219;p29"/>
            <p:cNvGrpSpPr/>
            <p:nvPr/>
          </p:nvGrpSpPr>
          <p:grpSpPr>
            <a:xfrm>
              <a:off x="4757738" y="3633788"/>
              <a:ext cx="3914700" cy="523800"/>
              <a:chOff x="4757738" y="3633788"/>
              <a:chExt cx="3914700" cy="523800"/>
            </a:xfrm>
          </p:grpSpPr>
          <p:pic>
            <p:nvPicPr>
              <p:cNvPr id="1220" name="Google Shape;1220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757738" y="3633788"/>
                <a:ext cx="3914700" cy="523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2" name="Google Shape;1222;p29"/>
              <p:cNvSpPr txBox="1"/>
              <p:nvPr/>
            </p:nvSpPr>
            <p:spPr>
              <a:xfrm>
                <a:off x="5257800" y="3676650"/>
                <a:ext cx="33147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 b="1">
                    <a:solidFill>
                      <a:srgbClr val="0F6B4A"/>
                    </a:solidFill>
                    <a:latin typeface="Inter"/>
                    <a:ea typeface="Inter"/>
                    <a:cs typeface="Inter"/>
                    <a:sym typeface="Inter"/>
                  </a:rPr>
                  <a:t>Solution 5: Selected XGBoost</a:t>
                </a:r>
                <a:endParaRPr sz="850" b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-GB" sz="750" b="0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Selected XGBoost based on overall performance instead of relying only on Accuracy.</a:t>
                </a:r>
                <a:endParaRPr sz="750" b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23" name="Google Shape;1223;p29"/>
          <p:cNvGrpSpPr/>
          <p:nvPr/>
        </p:nvGrpSpPr>
        <p:grpSpPr>
          <a:xfrm>
            <a:off x="571500" y="4333875"/>
            <a:ext cx="8001000" cy="533400"/>
            <a:chOff x="571500" y="4333875"/>
            <a:chExt cx="8001000" cy="533400"/>
          </a:xfrm>
        </p:grpSpPr>
        <p:pic>
          <p:nvPicPr>
            <p:cNvPr id="1224" name="Google Shape;1224;p2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1500" y="4333875"/>
              <a:ext cx="8001000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5" name="Google Shape;1225;p2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14375" y="4429125"/>
              <a:ext cx="381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29"/>
            <p:cNvSpPr txBox="1"/>
            <p:nvPr/>
          </p:nvSpPr>
          <p:spPr>
            <a:xfrm>
              <a:off x="857250" y="4333875"/>
              <a:ext cx="7524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 i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"Every challenge was addressed using appropriate Machine Learning techniques and best practices."</a:t>
              </a:r>
              <a:endParaRPr sz="950" i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3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6B4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1"/>
          <p:cNvSpPr/>
          <p:nvPr/>
        </p:nvSpPr>
        <p:spPr>
          <a:xfrm>
            <a:off x="76200" y="0"/>
            <a:ext cx="38100" cy="514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1"/>
          <p:cNvSpPr/>
          <p:nvPr/>
        </p:nvSpPr>
        <p:spPr>
          <a:xfrm>
            <a:off x="571500" y="238125"/>
            <a:ext cx="1714500" cy="2286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1"/>
          <p:cNvSpPr txBox="1"/>
          <p:nvPr/>
        </p:nvSpPr>
        <p:spPr>
          <a:xfrm>
            <a:off x="571500" y="2381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1">
                <a:solidFill>
                  <a:srgbClr val="0F6B4A"/>
                </a:solidFill>
                <a:latin typeface="Inter"/>
                <a:ea typeface="Inter"/>
                <a:cs typeface="Inter"/>
                <a:sym typeface="Inter"/>
              </a:rPr>
              <a:t>FINANCIAL ANALYTICS</a:t>
            </a:r>
            <a:endParaRPr sz="750" b="1">
              <a:solidFill>
                <a:srgbClr val="0F6B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3" name="Google Shape;1293;p31"/>
          <p:cNvSpPr txBox="1"/>
          <p:nvPr/>
        </p:nvSpPr>
        <p:spPr>
          <a:xfrm>
            <a:off x="571500" y="4953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Conclusion &amp; Key Takeaways</a:t>
            </a:r>
            <a:endParaRPr sz="2000" b="1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294" name="Google Shape;1294;p31"/>
          <p:cNvCxnSpPr/>
          <p:nvPr/>
        </p:nvCxnSpPr>
        <p:spPr>
          <a:xfrm>
            <a:off x="571500" y="904875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5" name="Google Shape;1295;p31"/>
          <p:cNvSpPr/>
          <p:nvPr/>
        </p:nvSpPr>
        <p:spPr>
          <a:xfrm>
            <a:off x="571500" y="1095375"/>
            <a:ext cx="4095900" cy="20601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 cap="flat" cmpd="sng">
            <a:solidFill>
              <a:srgbClr val="E2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6" name="Google Shape;1296;p31" descr="An elegant vector isometric illustration with a banking theme. Features a clean, modern bank building, simplified abstract figures of customers, an upward trending gold financial chart arrow, and a prominent gold trophy labeled &quot;XGBoost&quot; as the best model. Styled in emerald green, gold, and white tones, matching a professional financial dashboard."/>
          <p:cNvPicPr preferRelativeResize="0"/>
          <p:nvPr/>
        </p:nvPicPr>
        <p:blipFill rotWithShape="1">
          <a:blip r:embed="rId3">
            <a:alphaModFix/>
          </a:blip>
          <a:srcRect t="-3198" b="9407"/>
          <a:stretch/>
        </p:blipFill>
        <p:spPr>
          <a:xfrm>
            <a:off x="666750" y="1058313"/>
            <a:ext cx="3905400" cy="206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31"/>
          <p:cNvGrpSpPr/>
          <p:nvPr/>
        </p:nvGrpSpPr>
        <p:grpSpPr>
          <a:xfrm>
            <a:off x="4857750" y="1095375"/>
            <a:ext cx="1857300" cy="1000200"/>
            <a:chOff x="4857750" y="1095375"/>
            <a:chExt cx="1857300" cy="1000200"/>
          </a:xfrm>
        </p:grpSpPr>
        <p:sp>
          <p:nvSpPr>
            <p:cNvPr id="1298" name="Google Shape;1298;p31"/>
            <p:cNvSpPr/>
            <p:nvPr/>
          </p:nvSpPr>
          <p:spPr>
            <a:xfrm>
              <a:off x="4857750" y="1095375"/>
              <a:ext cx="1857300" cy="10002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1"/>
            <p:cNvSpPr/>
            <p:nvPr/>
          </p:nvSpPr>
          <p:spPr>
            <a:xfrm>
              <a:off x="4857750" y="1095375"/>
              <a:ext cx="18573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1"/>
            <p:cNvSpPr txBox="1"/>
            <p:nvPr/>
          </p:nvSpPr>
          <p:spPr>
            <a:xfrm>
              <a:off x="4972050" y="1190625"/>
              <a:ext cx="1628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Business Problem</a:t>
              </a:r>
              <a:endParaRPr sz="100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Accurately predict customer cohorts with high propensity to </a:t>
              </a:r>
              <a:r>
                <a:rPr lang="en-GB" sz="80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subscribe to term deposits</a:t>
              </a: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00" b="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1" name="Google Shape;1301;p31"/>
          <p:cNvGrpSpPr/>
          <p:nvPr/>
        </p:nvGrpSpPr>
        <p:grpSpPr>
          <a:xfrm>
            <a:off x="6810375" y="1095375"/>
            <a:ext cx="1857300" cy="1000200"/>
            <a:chOff x="6810375" y="1095375"/>
            <a:chExt cx="1857300" cy="1000200"/>
          </a:xfrm>
        </p:grpSpPr>
        <p:sp>
          <p:nvSpPr>
            <p:cNvPr id="1302" name="Google Shape;1302;p31"/>
            <p:cNvSpPr/>
            <p:nvPr/>
          </p:nvSpPr>
          <p:spPr>
            <a:xfrm>
              <a:off x="6810375" y="1095375"/>
              <a:ext cx="1857300" cy="10002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1"/>
            <p:cNvSpPr/>
            <p:nvPr/>
          </p:nvSpPr>
          <p:spPr>
            <a:xfrm>
              <a:off x="6810375" y="1095375"/>
              <a:ext cx="1857300" cy="38100"/>
            </a:xfrm>
            <a:prstGeom prst="roundRect">
              <a:avLst>
                <a:gd name="adj" fmla="val 5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1"/>
            <p:cNvSpPr txBox="1"/>
            <p:nvPr/>
          </p:nvSpPr>
          <p:spPr>
            <a:xfrm>
              <a:off x="6924675" y="1190625"/>
              <a:ext cx="1628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Approach</a:t>
              </a:r>
              <a:endParaRPr sz="100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Applied robust EDA, pipelines for preprocessing, class handling, and benchmarked </a:t>
              </a:r>
              <a:r>
                <a:rPr lang="en-GB" sz="80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4 ML models</a:t>
              </a: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00" b="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5" name="Google Shape;1305;p31"/>
          <p:cNvGrpSpPr/>
          <p:nvPr/>
        </p:nvGrpSpPr>
        <p:grpSpPr>
          <a:xfrm>
            <a:off x="4857750" y="2238375"/>
            <a:ext cx="1857300" cy="1000200"/>
            <a:chOff x="4857750" y="2238375"/>
            <a:chExt cx="1857300" cy="1000200"/>
          </a:xfrm>
        </p:grpSpPr>
        <p:sp>
          <p:nvSpPr>
            <p:cNvPr id="1306" name="Google Shape;1306;p31"/>
            <p:cNvSpPr/>
            <p:nvPr/>
          </p:nvSpPr>
          <p:spPr>
            <a:xfrm>
              <a:off x="4857750" y="2238375"/>
              <a:ext cx="1857300" cy="10002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1"/>
            <p:cNvSpPr/>
            <p:nvPr/>
          </p:nvSpPr>
          <p:spPr>
            <a:xfrm>
              <a:off x="4857750" y="2238375"/>
              <a:ext cx="1857300" cy="38100"/>
            </a:xfrm>
            <a:prstGeom prst="roundRect">
              <a:avLst>
                <a:gd name="adj" fmla="val 50000"/>
              </a:avLst>
            </a:prstGeom>
            <a:solidFill>
              <a:srgbClr val="0F6B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1"/>
            <p:cNvSpPr txBox="1"/>
            <p:nvPr/>
          </p:nvSpPr>
          <p:spPr>
            <a:xfrm>
              <a:off x="4972050" y="2333625"/>
              <a:ext cx="1628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dirty="0" err="1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r>
                <a:rPr lang="en-GB" sz="80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 Ensemble</a:t>
              </a: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delivered top-tier scores across F1, ROC-AUC, and general accuracy metrics.</a:t>
              </a:r>
              <a:endParaRPr sz="800" b="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9" name="Google Shape;1309;p31"/>
          <p:cNvGrpSpPr/>
          <p:nvPr/>
        </p:nvGrpSpPr>
        <p:grpSpPr>
          <a:xfrm>
            <a:off x="6810375" y="2238375"/>
            <a:ext cx="1857300" cy="1000200"/>
            <a:chOff x="6810375" y="2238375"/>
            <a:chExt cx="1857300" cy="1000200"/>
          </a:xfrm>
        </p:grpSpPr>
        <p:sp>
          <p:nvSpPr>
            <p:cNvPr id="1310" name="Google Shape;1310;p31"/>
            <p:cNvSpPr/>
            <p:nvPr/>
          </p:nvSpPr>
          <p:spPr>
            <a:xfrm>
              <a:off x="6810375" y="2238375"/>
              <a:ext cx="1857300" cy="10002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0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1"/>
            <p:cNvSpPr/>
            <p:nvPr/>
          </p:nvSpPr>
          <p:spPr>
            <a:xfrm>
              <a:off x="6810375" y="2238375"/>
              <a:ext cx="1857300" cy="381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1"/>
            <p:cNvSpPr txBox="1"/>
            <p:nvPr/>
          </p:nvSpPr>
          <p:spPr>
            <a:xfrm>
              <a:off x="6924675" y="2333625"/>
              <a:ext cx="1628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1" dirty="0">
                  <a:solidFill>
                    <a:srgbClr val="0F6B4A"/>
                  </a:solidFill>
                  <a:latin typeface="Georgia"/>
                  <a:ea typeface="Georgia"/>
                  <a:cs typeface="Georgia"/>
                  <a:sym typeface="Georgia"/>
                </a:rPr>
                <a:t>Business Value</a:t>
              </a:r>
              <a:endParaRPr sz="1000" b="1" dirty="0">
                <a:solidFill>
                  <a:srgbClr val="0F6B4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Empowers targeted marketing campaigns, significantly reducing CAC and </a:t>
              </a:r>
              <a:r>
                <a:rPr lang="en-GB" sz="800" b="1" dirty="0">
                  <a:solidFill>
                    <a:srgbClr val="0F6B4A"/>
                  </a:solidFill>
                  <a:latin typeface="Inter"/>
                  <a:ea typeface="Inter"/>
                  <a:cs typeface="Inter"/>
                  <a:sym typeface="Inter"/>
                </a:rPr>
                <a:t>maximizing sales yields</a:t>
              </a:r>
              <a:r>
                <a:rPr lang="en-GB" sz="800" b="0" dirty="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00" b="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313" name="Google Shape;131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29000"/>
            <a:ext cx="8001000" cy="13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9988"/>
            <a:ext cx="80010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829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31"/>
          <p:cNvSpPr txBox="1"/>
          <p:nvPr/>
        </p:nvSpPr>
        <p:spPr>
          <a:xfrm>
            <a:off x="1428750" y="3571875"/>
            <a:ext cx="6286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26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100" b="0">
              <a:solidFill>
                <a:srgbClr val="D4AF3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2407</Words>
  <Application>Microsoft Office PowerPoint</Application>
  <PresentationFormat>On-screen Show (16:9)</PresentationFormat>
  <Paragraphs>573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Inter Medium</vt:lpstr>
      <vt:lpstr>Georgia</vt:lpstr>
      <vt:lpstr>Material Icons</vt:lpstr>
      <vt:lpstr>Inter</vt:lpstr>
      <vt:lpstr>Inter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Steve Emmanuel</cp:lastModifiedBy>
  <cp:revision>5</cp:revision>
  <dcterms:modified xsi:type="dcterms:W3CDTF">2026-08-01T17:45:33Z</dcterms:modified>
</cp:coreProperties>
</file>